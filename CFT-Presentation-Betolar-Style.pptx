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About us</a:t>
            </a:r>
          </a:p>
        </p:txBody>
      </p:sp>
      <p:sp>
        <p:nvSpPr>
          <p:cNvPr id="4" name="TextBox 3"/>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Market demand</a:t>
            </a:r>
          </a:p>
        </p:txBody>
      </p:sp>
      <p:sp>
        <p:nvSpPr>
          <p:cNvPr id="5" name="TextBox 4"/>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Solution &amp; impact</a:t>
            </a:r>
          </a:p>
        </p:txBody>
      </p:sp>
      <p:sp>
        <p:nvSpPr>
          <p:cNvPr id="6" name="TextBox 5"/>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Team and advisors</a:t>
            </a:r>
          </a:p>
        </p:txBody>
      </p:sp>
      <p:sp>
        <p:nvSpPr>
          <p:cNvPr id="7" name="TextBox 6"/>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Contact us</a:t>
            </a:r>
          </a:p>
        </p:txBody>
      </p:sp>
      <p:sp>
        <p:nvSpPr>
          <p:cNvPr id="8" name="TextBox 7"/>
          <p:cNvSpPr txBox="1"/>
          <p:nvPr/>
        </p:nvSpPr>
        <p:spPr>
          <a:xfrm>
            <a:off x="457200" y="1371600"/>
            <a:ext cx="10972800" cy="1097280"/>
          </a:xfrm>
          <a:prstGeom prst="rect">
            <a:avLst/>
          </a:prstGeom>
          <a:noFill/>
        </p:spPr>
        <p:txBody>
          <a:bodyPr wrap="square">
            <a:spAutoFit/>
          </a:bodyPr>
          <a:lstStyle/>
          <a:p>
            <a:pPr algn="l">
              <a:spcBef>
                <a:spcPts val="0"/>
              </a:spcBef>
              <a:spcAft>
                <a:spcPts val="0"/>
              </a:spcAft>
              <a:defRPr sz="4400" b="1">
                <a:solidFill>
                  <a:srgbClr val="FFFFFF"/>
                </a:solidFill>
                <a:latin typeface="Arial"/>
              </a:defRPr>
            </a:pPr>
            <a:r>
              <a:t>Circular economy based</a:t>
            </a:r>
            <a:br/>
            <a:r>
              <a:t>concrete production – TODAY</a:t>
            </a:r>
          </a:p>
        </p:txBody>
      </p:sp>
      <p:sp>
        <p:nvSpPr>
          <p:cNvPr id="9" name="TextBox 8"/>
          <p:cNvSpPr txBox="1"/>
          <p:nvPr/>
        </p:nvSpPr>
        <p:spPr>
          <a:xfrm>
            <a:off x="457200" y="2926080"/>
            <a:ext cx="6400800" cy="2286000"/>
          </a:xfrm>
          <a:prstGeom prst="rect">
            <a:avLst/>
          </a:prstGeom>
          <a:noFill/>
        </p:spPr>
        <p:txBody>
          <a:bodyPr wrap="square">
            <a:spAutoFit/>
          </a:bodyPr>
          <a:lstStyle/>
          <a:p>
            <a:pPr algn="l">
              <a:spcBef>
                <a:spcPts val="0"/>
              </a:spcBef>
              <a:spcAft>
                <a:spcPts val="0"/>
              </a:spcAft>
              <a:defRPr sz="1400" b="0">
                <a:solidFill>
                  <a:srgbClr val="CADCFC"/>
                </a:solidFill>
                <a:latin typeface="Arial"/>
              </a:defRPr>
            </a:pPr>
            <a:r>
              <a:t>Over the past 10 years, we have led, advised, and helped hundreds of companies to develop and grow their business and succeed in the global market while becoming more sustainable.</a:t>
            </a:r>
            <a:br/>
            <a:br/>
            <a:r>
              <a:t>We have recognised that despite efforts in the construction industry, focus on more sustainable concrete has been to reduce one or more raw materials, whereas we want to focus on circular economy and its tremendous potential in reducing CO2 and improving profitability.</a:t>
            </a:r>
          </a:p>
        </p:txBody>
      </p:sp>
      <p:sp>
        <p:nvSpPr>
          <p:cNvPr id="10" name="Rectangle 9"/>
          <p:cNvSpPr/>
          <p:nvPr/>
        </p:nvSpPr>
        <p:spPr>
          <a:xfrm>
            <a:off x="7772400" y="2743200"/>
            <a:ext cx="73152" cy="228600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743200"/>
            <a:ext cx="3657600" cy="1828800"/>
          </a:xfrm>
          <a:prstGeom prst="rect">
            <a:avLst/>
          </a:prstGeom>
          <a:noFill/>
        </p:spPr>
        <p:txBody>
          <a:bodyPr wrap="square">
            <a:spAutoFit/>
          </a:bodyPr>
          <a:lstStyle/>
          <a:p>
            <a:pPr algn="l">
              <a:spcBef>
                <a:spcPts val="0"/>
              </a:spcBef>
              <a:spcAft>
                <a:spcPts val="0"/>
              </a:spcAft>
              <a:defRPr sz="1300" b="0">
                <a:solidFill>
                  <a:srgbClr val="FFFFFF"/>
                </a:solidFill>
                <a:latin typeface="Arial"/>
              </a:defRPr>
            </a:pPr>
            <a:r>
              <a:t>Working together with inventors, university research and construction professionals we have developed a methodology, mixing and process to better utilise demolished concrete and produce stronger concrete, with less cement, less costs and significantly reduced carbon footprint.</a:t>
            </a:r>
          </a:p>
        </p:txBody>
      </p:sp>
      <p:sp>
        <p:nvSpPr>
          <p:cNvPr id="12" name="TextBox 11"/>
          <p:cNvSpPr txBox="1"/>
          <p:nvPr/>
        </p:nvSpPr>
        <p:spPr>
          <a:xfrm>
            <a:off x="8046720" y="4754880"/>
            <a:ext cx="3657600" cy="457200"/>
          </a:xfrm>
          <a:prstGeom prst="rect">
            <a:avLst/>
          </a:prstGeom>
          <a:noFill/>
        </p:spPr>
        <p:txBody>
          <a:bodyPr wrap="square">
            <a:spAutoFit/>
          </a:bodyPr>
          <a:lstStyle/>
          <a:p>
            <a:pPr algn="l">
              <a:spcBef>
                <a:spcPts val="0"/>
              </a:spcBef>
              <a:spcAft>
                <a:spcPts val="0"/>
              </a:spcAft>
              <a:defRPr sz="1100" b="0">
                <a:solidFill>
                  <a:srgbClr val="02C39A"/>
                </a:solidFill>
                <a:latin typeface="Arial"/>
              </a:defRPr>
            </a:pPr>
            <a:r>
              <a:t>— Jukka Mäkelä and Jarkko Hämäläinen,</a:t>
            </a:r>
            <a:br/>
            <a:r>
              <a:t>   founders of Carbon Free Technologies</a:t>
            </a:r>
          </a:p>
        </p:txBody>
      </p:sp>
      <p:sp>
        <p:nvSpPr>
          <p:cNvPr id="13" name="TextBox 12"/>
          <p:cNvSpPr txBox="1"/>
          <p:nvPr/>
        </p:nvSpPr>
        <p:spPr>
          <a:xfrm>
            <a:off x="457200" y="6217920"/>
            <a:ext cx="3657600" cy="365760"/>
          </a:xfrm>
          <a:prstGeom prst="rect">
            <a:avLst/>
          </a:prstGeom>
          <a:noFill/>
        </p:spPr>
        <p:txBody>
          <a:bodyPr wrap="square">
            <a:spAutoFit/>
          </a:bodyPr>
          <a:lstStyle/>
          <a:p>
            <a:pPr algn="l">
              <a:spcBef>
                <a:spcPts val="0"/>
              </a:spcBef>
              <a:spcAft>
                <a:spcPts val="0"/>
              </a:spcAft>
              <a:defRPr sz="1400" b="1">
                <a:solidFill>
                  <a:srgbClr val="028090"/>
                </a:solidFill>
                <a:latin typeface="Arial"/>
              </a:defRPr>
            </a:pPr>
            <a:r>
              <a:t>CARBON FREE TECHNOLOGIES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2743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About us</a:t>
            </a:r>
          </a:p>
        </p:txBody>
      </p:sp>
      <p:sp>
        <p:nvSpPr>
          <p:cNvPr id="5" name="TextBox 4"/>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Market demand</a:t>
            </a:r>
          </a:p>
        </p:txBody>
      </p:sp>
      <p:sp>
        <p:nvSpPr>
          <p:cNvPr id="6" name="TextBox 5"/>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Solution &amp; impact</a:t>
            </a:r>
          </a:p>
        </p:txBody>
      </p:sp>
      <p:sp>
        <p:nvSpPr>
          <p:cNvPr id="7" name="TextBox 6"/>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Team and advisors</a:t>
            </a:r>
          </a:p>
        </p:txBody>
      </p:sp>
      <p:sp>
        <p:nvSpPr>
          <p:cNvPr id="8" name="TextBox 7"/>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Contact us</a:t>
            </a:r>
          </a:p>
        </p:txBody>
      </p:sp>
      <p:sp>
        <p:nvSpPr>
          <p:cNvPr id="9" name="TextBox 8"/>
          <p:cNvSpPr txBox="1"/>
          <p:nvPr/>
        </p:nvSpPr>
        <p:spPr>
          <a:xfrm>
            <a:off x="457200" y="914400"/>
            <a:ext cx="10972800" cy="548640"/>
          </a:xfrm>
          <a:prstGeom prst="rect">
            <a:avLst/>
          </a:prstGeom>
          <a:noFill/>
        </p:spPr>
        <p:txBody>
          <a:bodyPr wrap="square">
            <a:spAutoFit/>
          </a:bodyPr>
          <a:lstStyle/>
          <a:p>
            <a:pPr algn="l">
              <a:spcBef>
                <a:spcPts val="0"/>
              </a:spcBef>
              <a:spcAft>
                <a:spcPts val="0"/>
              </a:spcAft>
              <a:defRPr sz="3200" b="1">
                <a:solidFill>
                  <a:srgbClr val="FFFFFF"/>
                </a:solidFill>
                <a:latin typeface="Arial"/>
              </a:defRPr>
            </a:pPr>
            <a:r>
              <a:t>Our Zero Waste Impact</a:t>
            </a:r>
          </a:p>
        </p:txBody>
      </p:sp>
      <p:sp>
        <p:nvSpPr>
          <p:cNvPr id="10" name="TextBox 9"/>
          <p:cNvSpPr txBox="1"/>
          <p:nvPr/>
        </p:nvSpPr>
        <p:spPr>
          <a:xfrm>
            <a:off x="457200" y="1645920"/>
            <a:ext cx="2286000" cy="731520"/>
          </a:xfrm>
          <a:prstGeom prst="rect">
            <a:avLst/>
          </a:prstGeom>
          <a:noFill/>
        </p:spPr>
        <p:txBody>
          <a:bodyPr wrap="square">
            <a:spAutoFit/>
          </a:bodyPr>
          <a:lstStyle/>
          <a:p>
            <a:pPr algn="ctr">
              <a:spcBef>
                <a:spcPts val="0"/>
              </a:spcBef>
              <a:spcAft>
                <a:spcPts val="0"/>
              </a:spcAft>
              <a:defRPr sz="4800" b="1">
                <a:solidFill>
                  <a:srgbClr val="02C39A"/>
                </a:solidFill>
                <a:latin typeface="Arial"/>
              </a:defRPr>
            </a:pPr>
            <a:r>
              <a:t>10</a:t>
            </a:r>
          </a:p>
        </p:txBody>
      </p:sp>
      <p:sp>
        <p:nvSpPr>
          <p:cNvPr id="11" name="TextBox 10"/>
          <p:cNvSpPr txBox="1"/>
          <p:nvPr/>
        </p:nvSpPr>
        <p:spPr>
          <a:xfrm>
            <a:off x="457200" y="2286000"/>
            <a:ext cx="2286000" cy="548640"/>
          </a:xfrm>
          <a:prstGeom prst="rect">
            <a:avLst/>
          </a:prstGeom>
          <a:noFill/>
        </p:spPr>
        <p:txBody>
          <a:bodyPr wrap="square">
            <a:spAutoFit/>
          </a:bodyPr>
          <a:lstStyle/>
          <a:p>
            <a:pPr algn="ctr">
              <a:spcBef>
                <a:spcPts val="0"/>
              </a:spcBef>
              <a:spcAft>
                <a:spcPts val="0"/>
              </a:spcAft>
              <a:defRPr sz="1200" b="0">
                <a:solidFill>
                  <a:srgbClr val="FFFFFF"/>
                </a:solidFill>
                <a:latin typeface="Arial"/>
              </a:defRPr>
            </a:pPr>
            <a:r>
              <a:t>years of R&amp;D</a:t>
            </a:r>
          </a:p>
        </p:txBody>
      </p:sp>
      <p:sp>
        <p:nvSpPr>
          <p:cNvPr id="12" name="TextBox 11"/>
          <p:cNvSpPr txBox="1"/>
          <p:nvPr/>
        </p:nvSpPr>
        <p:spPr>
          <a:xfrm>
            <a:off x="2377440" y="1645920"/>
            <a:ext cx="2286000" cy="731520"/>
          </a:xfrm>
          <a:prstGeom prst="rect">
            <a:avLst/>
          </a:prstGeom>
          <a:noFill/>
        </p:spPr>
        <p:txBody>
          <a:bodyPr wrap="square">
            <a:spAutoFit/>
          </a:bodyPr>
          <a:lstStyle/>
          <a:p>
            <a:pPr algn="ctr">
              <a:spcBef>
                <a:spcPts val="0"/>
              </a:spcBef>
              <a:spcAft>
                <a:spcPts val="0"/>
              </a:spcAft>
              <a:defRPr sz="4800" b="1">
                <a:solidFill>
                  <a:srgbClr val="02C39A"/>
                </a:solidFill>
                <a:latin typeface="Arial"/>
              </a:defRPr>
            </a:pPr>
            <a:r>
              <a:t>200</a:t>
            </a:r>
          </a:p>
        </p:txBody>
      </p:sp>
      <p:sp>
        <p:nvSpPr>
          <p:cNvPr id="13" name="TextBox 12"/>
          <p:cNvSpPr txBox="1"/>
          <p:nvPr/>
        </p:nvSpPr>
        <p:spPr>
          <a:xfrm>
            <a:off x="2377440" y="2286000"/>
            <a:ext cx="2286000" cy="548640"/>
          </a:xfrm>
          <a:prstGeom prst="rect">
            <a:avLst/>
          </a:prstGeom>
          <a:noFill/>
        </p:spPr>
        <p:txBody>
          <a:bodyPr wrap="square">
            <a:spAutoFit/>
          </a:bodyPr>
          <a:lstStyle/>
          <a:p>
            <a:pPr algn="ctr">
              <a:spcBef>
                <a:spcPts val="0"/>
              </a:spcBef>
              <a:spcAft>
                <a:spcPts val="0"/>
              </a:spcAft>
              <a:defRPr sz="1200" b="0">
                <a:solidFill>
                  <a:srgbClr val="FFFFFF"/>
                </a:solidFill>
                <a:latin typeface="Arial"/>
              </a:defRPr>
            </a:pPr>
            <a:r>
              <a:t>years combined</a:t>
            </a:r>
            <a:br/>
            <a:r>
              <a:t>sustainability leadership</a:t>
            </a:r>
          </a:p>
        </p:txBody>
      </p:sp>
      <p:sp>
        <p:nvSpPr>
          <p:cNvPr id="14" name="TextBox 13"/>
          <p:cNvSpPr txBox="1"/>
          <p:nvPr/>
        </p:nvSpPr>
        <p:spPr>
          <a:xfrm>
            <a:off x="4297680" y="1645920"/>
            <a:ext cx="2286000" cy="731520"/>
          </a:xfrm>
          <a:prstGeom prst="rect">
            <a:avLst/>
          </a:prstGeom>
          <a:noFill/>
        </p:spPr>
        <p:txBody>
          <a:bodyPr wrap="square">
            <a:spAutoFit/>
          </a:bodyPr>
          <a:lstStyle/>
          <a:p>
            <a:pPr algn="ctr">
              <a:spcBef>
                <a:spcPts val="0"/>
              </a:spcBef>
              <a:spcAft>
                <a:spcPts val="0"/>
              </a:spcAft>
              <a:defRPr sz="4800" b="1">
                <a:solidFill>
                  <a:srgbClr val="02C39A"/>
                </a:solidFill>
                <a:latin typeface="Arial"/>
              </a:defRPr>
            </a:pPr>
            <a:r>
              <a:t>30%</a:t>
            </a:r>
          </a:p>
        </p:txBody>
      </p:sp>
      <p:sp>
        <p:nvSpPr>
          <p:cNvPr id="15" name="TextBox 14"/>
          <p:cNvSpPr txBox="1"/>
          <p:nvPr/>
        </p:nvSpPr>
        <p:spPr>
          <a:xfrm>
            <a:off x="4297680" y="2286000"/>
            <a:ext cx="2286000" cy="548640"/>
          </a:xfrm>
          <a:prstGeom prst="rect">
            <a:avLst/>
          </a:prstGeom>
          <a:noFill/>
        </p:spPr>
        <p:txBody>
          <a:bodyPr wrap="square">
            <a:spAutoFit/>
          </a:bodyPr>
          <a:lstStyle/>
          <a:p>
            <a:pPr algn="ctr">
              <a:spcBef>
                <a:spcPts val="0"/>
              </a:spcBef>
              <a:spcAft>
                <a:spcPts val="0"/>
              </a:spcAft>
              <a:defRPr sz="1200" b="0">
                <a:solidFill>
                  <a:srgbClr val="FFFFFF"/>
                </a:solidFill>
                <a:latin typeface="Arial"/>
              </a:defRPr>
            </a:pPr>
            <a:r>
              <a:t>of all waste</a:t>
            </a:r>
            <a:br/>
            <a:r>
              <a:t>to be abolished</a:t>
            </a:r>
          </a:p>
        </p:txBody>
      </p:sp>
      <p:sp>
        <p:nvSpPr>
          <p:cNvPr id="16" name="TextBox 15"/>
          <p:cNvSpPr txBox="1"/>
          <p:nvPr/>
        </p:nvSpPr>
        <p:spPr>
          <a:xfrm>
            <a:off x="6217920" y="1645920"/>
            <a:ext cx="2286000" cy="731520"/>
          </a:xfrm>
          <a:prstGeom prst="rect">
            <a:avLst/>
          </a:prstGeom>
          <a:noFill/>
        </p:spPr>
        <p:txBody>
          <a:bodyPr wrap="square">
            <a:spAutoFit/>
          </a:bodyPr>
          <a:lstStyle/>
          <a:p>
            <a:pPr algn="ctr">
              <a:spcBef>
                <a:spcPts val="0"/>
              </a:spcBef>
              <a:spcAft>
                <a:spcPts val="0"/>
              </a:spcAft>
              <a:defRPr sz="4800" b="1">
                <a:solidFill>
                  <a:srgbClr val="02C39A"/>
                </a:solidFill>
                <a:latin typeface="Arial"/>
              </a:defRPr>
            </a:pPr>
            <a:r>
              <a:t>40%</a:t>
            </a:r>
          </a:p>
        </p:txBody>
      </p:sp>
      <p:sp>
        <p:nvSpPr>
          <p:cNvPr id="17" name="TextBox 16"/>
          <p:cNvSpPr txBox="1"/>
          <p:nvPr/>
        </p:nvSpPr>
        <p:spPr>
          <a:xfrm>
            <a:off x="6217920" y="2286000"/>
            <a:ext cx="2286000" cy="548640"/>
          </a:xfrm>
          <a:prstGeom prst="rect">
            <a:avLst/>
          </a:prstGeom>
          <a:noFill/>
        </p:spPr>
        <p:txBody>
          <a:bodyPr wrap="square">
            <a:spAutoFit/>
          </a:bodyPr>
          <a:lstStyle/>
          <a:p>
            <a:pPr algn="ctr">
              <a:spcBef>
                <a:spcPts val="0"/>
              </a:spcBef>
              <a:spcAft>
                <a:spcPts val="0"/>
              </a:spcAft>
              <a:defRPr sz="1200" b="0">
                <a:solidFill>
                  <a:srgbClr val="FFFFFF"/>
                </a:solidFill>
                <a:latin typeface="Arial"/>
              </a:defRPr>
            </a:pPr>
            <a:r>
              <a:t>reduction</a:t>
            </a:r>
            <a:br/>
            <a:r>
              <a:t>of CO2</a:t>
            </a:r>
          </a:p>
        </p:txBody>
      </p:sp>
      <p:sp>
        <p:nvSpPr>
          <p:cNvPr id="18" name="TextBox 17"/>
          <p:cNvSpPr txBox="1"/>
          <p:nvPr/>
        </p:nvSpPr>
        <p:spPr>
          <a:xfrm>
            <a:off x="8138160" y="1645920"/>
            <a:ext cx="2286000" cy="731520"/>
          </a:xfrm>
          <a:prstGeom prst="rect">
            <a:avLst/>
          </a:prstGeom>
          <a:noFill/>
        </p:spPr>
        <p:txBody>
          <a:bodyPr wrap="square">
            <a:spAutoFit/>
          </a:bodyPr>
          <a:lstStyle/>
          <a:p>
            <a:pPr algn="ctr">
              <a:spcBef>
                <a:spcPts val="0"/>
              </a:spcBef>
              <a:spcAft>
                <a:spcPts val="0"/>
              </a:spcAft>
              <a:defRPr sz="4800" b="1">
                <a:solidFill>
                  <a:srgbClr val="02C39A"/>
                </a:solidFill>
                <a:latin typeface="Arial"/>
              </a:defRPr>
            </a:pPr>
            <a:r>
              <a:t>10×</a:t>
            </a:r>
          </a:p>
        </p:txBody>
      </p:sp>
      <p:sp>
        <p:nvSpPr>
          <p:cNvPr id="19" name="TextBox 18"/>
          <p:cNvSpPr txBox="1"/>
          <p:nvPr/>
        </p:nvSpPr>
        <p:spPr>
          <a:xfrm>
            <a:off x="8138160" y="2286000"/>
            <a:ext cx="2286000" cy="548640"/>
          </a:xfrm>
          <a:prstGeom prst="rect">
            <a:avLst/>
          </a:prstGeom>
          <a:noFill/>
        </p:spPr>
        <p:txBody>
          <a:bodyPr wrap="square">
            <a:spAutoFit/>
          </a:bodyPr>
          <a:lstStyle/>
          <a:p>
            <a:pPr algn="ctr">
              <a:spcBef>
                <a:spcPts val="0"/>
              </a:spcBef>
              <a:spcAft>
                <a:spcPts val="0"/>
              </a:spcAft>
              <a:defRPr sz="1200" b="0">
                <a:solidFill>
                  <a:srgbClr val="FFFFFF"/>
                </a:solidFill>
                <a:latin typeface="Arial"/>
              </a:defRPr>
            </a:pPr>
            <a:r>
              <a:t>stronger</a:t>
            </a:r>
            <a:br/>
            <a:r>
              <a:t>concrete</a:t>
            </a:r>
          </a:p>
        </p:txBody>
      </p:sp>
      <p:sp>
        <p:nvSpPr>
          <p:cNvPr id="20" name="TextBox 19"/>
          <p:cNvSpPr txBox="1"/>
          <p:nvPr/>
        </p:nvSpPr>
        <p:spPr>
          <a:xfrm>
            <a:off x="10058400" y="1645920"/>
            <a:ext cx="2286000" cy="731520"/>
          </a:xfrm>
          <a:prstGeom prst="rect">
            <a:avLst/>
          </a:prstGeom>
          <a:noFill/>
        </p:spPr>
        <p:txBody>
          <a:bodyPr wrap="square">
            <a:spAutoFit/>
          </a:bodyPr>
          <a:lstStyle/>
          <a:p>
            <a:pPr algn="ctr">
              <a:spcBef>
                <a:spcPts val="0"/>
              </a:spcBef>
              <a:spcAft>
                <a:spcPts val="0"/>
              </a:spcAft>
              <a:defRPr sz="4800" b="1">
                <a:solidFill>
                  <a:srgbClr val="02C39A"/>
                </a:solidFill>
                <a:latin typeface="Arial"/>
              </a:defRPr>
            </a:pPr>
            <a:r>
              <a:t>50-80%</a:t>
            </a:r>
          </a:p>
        </p:txBody>
      </p:sp>
      <p:sp>
        <p:nvSpPr>
          <p:cNvPr id="21" name="TextBox 20"/>
          <p:cNvSpPr txBox="1"/>
          <p:nvPr/>
        </p:nvSpPr>
        <p:spPr>
          <a:xfrm>
            <a:off x="10058400" y="2286000"/>
            <a:ext cx="2286000" cy="548640"/>
          </a:xfrm>
          <a:prstGeom prst="rect">
            <a:avLst/>
          </a:prstGeom>
          <a:noFill/>
        </p:spPr>
        <p:txBody>
          <a:bodyPr wrap="square">
            <a:spAutoFit/>
          </a:bodyPr>
          <a:lstStyle/>
          <a:p>
            <a:pPr algn="ctr">
              <a:spcBef>
                <a:spcPts val="0"/>
              </a:spcBef>
              <a:spcAft>
                <a:spcPts val="0"/>
              </a:spcAft>
              <a:defRPr sz="1200" b="0">
                <a:solidFill>
                  <a:srgbClr val="FFFFFF"/>
                </a:solidFill>
                <a:latin typeface="Arial"/>
              </a:defRPr>
            </a:pPr>
            <a:r>
              <a:t>lower aggregate</a:t>
            </a:r>
            <a:br/>
            <a:r>
              <a:t>related costs</a:t>
            </a:r>
          </a:p>
        </p:txBody>
      </p:sp>
      <p:sp>
        <p:nvSpPr>
          <p:cNvPr id="22" name="TextBox 21"/>
          <p:cNvSpPr txBox="1"/>
          <p:nvPr/>
        </p:nvSpPr>
        <p:spPr>
          <a:xfrm>
            <a:off x="457200" y="4572000"/>
            <a:ext cx="10972800" cy="1371600"/>
          </a:xfrm>
          <a:prstGeom prst="rect">
            <a:avLst/>
          </a:prstGeom>
          <a:noFill/>
        </p:spPr>
        <p:txBody>
          <a:bodyPr wrap="square">
            <a:spAutoFit/>
          </a:bodyPr>
          <a:lstStyle/>
          <a:p>
            <a:pPr algn="ctr">
              <a:spcBef>
                <a:spcPts val="0"/>
              </a:spcBef>
              <a:spcAft>
                <a:spcPts val="0"/>
              </a:spcAft>
              <a:defRPr sz="1800" b="0">
                <a:solidFill>
                  <a:srgbClr val="1E2761"/>
                </a:solidFill>
                <a:latin typeface="Arial"/>
              </a:defRPr>
            </a:pPr>
            <a:r>
              <a:t>CFT is introducing a new way of thinking about concrete production – providing holistic sustainable solutions based on circular economy methodologies and value chain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About us</a:t>
            </a:r>
          </a:p>
        </p:txBody>
      </p:sp>
      <p:sp>
        <p:nvSpPr>
          <p:cNvPr id="5" name="TextBox 4"/>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Market demand</a:t>
            </a:r>
          </a:p>
        </p:txBody>
      </p:sp>
      <p:sp>
        <p:nvSpPr>
          <p:cNvPr id="6" name="TextBox 5"/>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Solution &amp; impact</a:t>
            </a:r>
          </a:p>
        </p:txBody>
      </p:sp>
      <p:sp>
        <p:nvSpPr>
          <p:cNvPr id="7" name="TextBox 6"/>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Team and advisors</a:t>
            </a:r>
          </a:p>
        </p:txBody>
      </p:sp>
      <p:sp>
        <p:nvSpPr>
          <p:cNvPr id="8" name="TextBox 7"/>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Contact us</a:t>
            </a:r>
          </a:p>
        </p:txBody>
      </p:sp>
      <p:sp>
        <p:nvSpPr>
          <p:cNvPr id="9" name="TextBox 8"/>
          <p:cNvSpPr txBox="1"/>
          <p:nvPr/>
        </p:nvSpPr>
        <p:spPr>
          <a:xfrm>
            <a:off x="457200" y="548640"/>
            <a:ext cx="5486400" cy="457200"/>
          </a:xfrm>
          <a:prstGeom prst="rect">
            <a:avLst/>
          </a:prstGeom>
          <a:noFill/>
        </p:spPr>
        <p:txBody>
          <a:bodyPr wrap="square">
            <a:spAutoFit/>
          </a:bodyPr>
          <a:lstStyle/>
          <a:p>
            <a:pPr algn="l">
              <a:spcBef>
                <a:spcPts val="0"/>
              </a:spcBef>
              <a:spcAft>
                <a:spcPts val="0"/>
              </a:spcAft>
              <a:defRPr sz="2400" b="1">
                <a:solidFill>
                  <a:srgbClr val="FFFFFF"/>
                </a:solidFill>
                <a:latin typeface="Arial"/>
              </a:defRPr>
            </a:pPr>
            <a:r>
              <a:t>About Carbon Free Technologies</a:t>
            </a:r>
          </a:p>
        </p:txBody>
      </p:sp>
      <p:sp>
        <p:nvSpPr>
          <p:cNvPr id="10" name="TextBox 9"/>
          <p:cNvSpPr txBox="1"/>
          <p:nvPr/>
        </p:nvSpPr>
        <p:spPr>
          <a:xfrm>
            <a:off x="457200" y="1371600"/>
            <a:ext cx="2743200" cy="365760"/>
          </a:xfrm>
          <a:prstGeom prst="rect">
            <a:avLst/>
          </a:prstGeom>
          <a:noFill/>
        </p:spPr>
        <p:txBody>
          <a:bodyPr wrap="square">
            <a:spAutoFit/>
          </a:bodyPr>
          <a:lstStyle/>
          <a:p>
            <a:pPr algn="l">
              <a:spcBef>
                <a:spcPts val="0"/>
              </a:spcBef>
              <a:spcAft>
                <a:spcPts val="0"/>
              </a:spcAft>
              <a:defRPr sz="1600" b="1">
                <a:solidFill>
                  <a:srgbClr val="028090"/>
                </a:solidFill>
                <a:latin typeface="Arial"/>
              </a:defRPr>
            </a:pPr>
            <a:r>
              <a:t>Core Expertise</a:t>
            </a:r>
          </a:p>
        </p:txBody>
      </p:sp>
      <p:sp>
        <p:nvSpPr>
          <p:cNvPr id="11" name="Oval 10"/>
          <p:cNvSpPr/>
          <p:nvPr/>
        </p:nvSpPr>
        <p:spPr>
          <a:xfrm>
            <a:off x="457200" y="1874519"/>
            <a:ext cx="137160" cy="13716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828800"/>
            <a:ext cx="2743200" cy="2743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Construction leadership</a:t>
            </a:r>
          </a:p>
        </p:txBody>
      </p:sp>
      <p:sp>
        <p:nvSpPr>
          <p:cNvPr id="13" name="Oval 12"/>
          <p:cNvSpPr/>
          <p:nvPr/>
        </p:nvSpPr>
        <p:spPr>
          <a:xfrm>
            <a:off x="457200" y="2194560"/>
            <a:ext cx="137160" cy="13716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48840"/>
            <a:ext cx="2743200" cy="2743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Concrete research</a:t>
            </a:r>
          </a:p>
        </p:txBody>
      </p:sp>
      <p:sp>
        <p:nvSpPr>
          <p:cNvPr id="15" name="Oval 14"/>
          <p:cNvSpPr/>
          <p:nvPr/>
        </p:nvSpPr>
        <p:spPr>
          <a:xfrm>
            <a:off x="457200" y="2514600"/>
            <a:ext cx="137160" cy="13716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68880"/>
            <a:ext cx="2743200" cy="2743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LEAN Management</a:t>
            </a:r>
          </a:p>
        </p:txBody>
      </p:sp>
      <p:sp>
        <p:nvSpPr>
          <p:cNvPr id="17" name="Oval 16"/>
          <p:cNvSpPr/>
          <p:nvPr/>
        </p:nvSpPr>
        <p:spPr>
          <a:xfrm>
            <a:off x="457200" y="2834640"/>
            <a:ext cx="137160" cy="13716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788920"/>
            <a:ext cx="2743200" cy="2743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Digital platform design</a:t>
            </a:r>
          </a:p>
        </p:txBody>
      </p:sp>
      <p:sp>
        <p:nvSpPr>
          <p:cNvPr id="19" name="Oval 18"/>
          <p:cNvSpPr/>
          <p:nvPr/>
        </p:nvSpPr>
        <p:spPr>
          <a:xfrm>
            <a:off x="457200" y="3154680"/>
            <a:ext cx="137160" cy="13716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108960"/>
            <a:ext cx="2743200" cy="2743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Structured finance</a:t>
            </a:r>
          </a:p>
        </p:txBody>
      </p:sp>
      <p:sp>
        <p:nvSpPr>
          <p:cNvPr id="21" name="Oval 20"/>
          <p:cNvSpPr/>
          <p:nvPr/>
        </p:nvSpPr>
        <p:spPr>
          <a:xfrm>
            <a:off x="457200" y="3474720"/>
            <a:ext cx="137160" cy="13716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429000"/>
            <a:ext cx="2743200" cy="2743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Global business management</a:t>
            </a:r>
          </a:p>
        </p:txBody>
      </p:sp>
      <p:sp>
        <p:nvSpPr>
          <p:cNvPr id="23" name="TextBox 22"/>
          <p:cNvSpPr txBox="1"/>
          <p:nvPr/>
        </p:nvSpPr>
        <p:spPr>
          <a:xfrm>
            <a:off x="3840480" y="1371600"/>
            <a:ext cx="4572000" cy="320040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Carbon Free Technologies (CFT) has developed patented solutions for creating recycled carbon neutral concrete utilising recycled construction demolition concrete waste mixed with fully bio-based application dependent additives ("RCA").</a:t>
            </a:r>
            <a:br/>
            <a:br/>
            <a:r>
              <a:t>This solution is based on over 10 years of research and cooperation with universities, research institutes and other constituents. Producing the recycled concrete can be done both in concrete facilities and on-site.</a:t>
            </a:r>
            <a:br/>
            <a:br/>
            <a:r>
              <a:t>CFT combines its innovations with an AI driven digital platform that allows us to manage the entire RCA value chain – all based on on-boarding of customer requirements and matching that with applicable RCA.</a:t>
            </a:r>
          </a:p>
        </p:txBody>
      </p:sp>
      <p:sp>
        <p:nvSpPr>
          <p:cNvPr id="24" name="Rectangle 23"/>
          <p:cNvSpPr/>
          <p:nvPr/>
        </p:nvSpPr>
        <p:spPr>
          <a:xfrm>
            <a:off x="457200" y="4846320"/>
            <a:ext cx="2194560" cy="1645920"/>
          </a:xfrm>
          <a:prstGeom prst="rect">
            <a:avLst/>
          </a:prstGeom>
          <a:solidFill>
            <a:srgbClr val="FFFFFF"/>
          </a:solidFill>
          <a:ln>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846320"/>
            <a:ext cx="219456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029200"/>
            <a:ext cx="2011679" cy="274320"/>
          </a:xfrm>
          <a:prstGeom prst="rect">
            <a:avLst/>
          </a:prstGeom>
          <a:noFill/>
        </p:spPr>
        <p:txBody>
          <a:bodyPr wrap="square">
            <a:spAutoFit/>
          </a:bodyPr>
          <a:lstStyle/>
          <a:p>
            <a:pPr algn="l">
              <a:spcBef>
                <a:spcPts val="0"/>
              </a:spcBef>
              <a:spcAft>
                <a:spcPts val="0"/>
              </a:spcAft>
              <a:defRPr sz="1200" b="1">
                <a:solidFill>
                  <a:srgbClr val="028090"/>
                </a:solidFill>
                <a:latin typeface="Arial"/>
              </a:defRPr>
            </a:pPr>
            <a:r>
              <a:t>Innovations</a:t>
            </a:r>
          </a:p>
        </p:txBody>
      </p:sp>
      <p:sp>
        <p:nvSpPr>
          <p:cNvPr id="27" name="TextBox 26"/>
          <p:cNvSpPr txBox="1"/>
          <p:nvPr/>
        </p:nvSpPr>
        <p:spPr>
          <a:xfrm>
            <a:off x="548640" y="5349240"/>
            <a:ext cx="2011679" cy="1097280"/>
          </a:xfrm>
          <a:prstGeom prst="rect">
            <a:avLst/>
          </a:prstGeom>
          <a:noFill/>
        </p:spPr>
        <p:txBody>
          <a:bodyPr wrap="square">
            <a:spAutoFit/>
          </a:bodyPr>
          <a:lstStyle/>
          <a:p>
            <a:pPr algn="l">
              <a:spcBef>
                <a:spcPts val="0"/>
              </a:spcBef>
              <a:spcAft>
                <a:spcPts val="0"/>
              </a:spcAft>
              <a:defRPr sz="1000" b="0">
                <a:solidFill>
                  <a:srgbClr val="1E2761"/>
                </a:solidFill>
                <a:latin typeface="Arial"/>
              </a:defRPr>
            </a:pPr>
            <a:r>
              <a:t>More than 10 years of R&amp;D</a:t>
            </a:r>
          </a:p>
        </p:txBody>
      </p:sp>
      <p:sp>
        <p:nvSpPr>
          <p:cNvPr id="28" name="Rectangle 27"/>
          <p:cNvSpPr/>
          <p:nvPr/>
        </p:nvSpPr>
        <p:spPr>
          <a:xfrm>
            <a:off x="2788920" y="4846320"/>
            <a:ext cx="2194560" cy="1645920"/>
          </a:xfrm>
          <a:prstGeom prst="rect">
            <a:avLst/>
          </a:prstGeom>
          <a:solidFill>
            <a:srgbClr val="FFFFFF"/>
          </a:solidFill>
          <a:ln>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4846320"/>
            <a:ext cx="219456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5029200"/>
            <a:ext cx="2011679" cy="274320"/>
          </a:xfrm>
          <a:prstGeom prst="rect">
            <a:avLst/>
          </a:prstGeom>
          <a:noFill/>
        </p:spPr>
        <p:txBody>
          <a:bodyPr wrap="square">
            <a:spAutoFit/>
          </a:bodyPr>
          <a:lstStyle/>
          <a:p>
            <a:pPr algn="l">
              <a:spcBef>
                <a:spcPts val="0"/>
              </a:spcBef>
              <a:spcAft>
                <a:spcPts val="0"/>
              </a:spcAft>
              <a:defRPr sz="1200" b="1">
                <a:solidFill>
                  <a:srgbClr val="028090"/>
                </a:solidFill>
                <a:latin typeface="Arial"/>
              </a:defRPr>
            </a:pPr>
            <a:r>
              <a:t>Solution</a:t>
            </a:r>
          </a:p>
        </p:txBody>
      </p:sp>
      <p:sp>
        <p:nvSpPr>
          <p:cNvPr id="31" name="TextBox 30"/>
          <p:cNvSpPr txBox="1"/>
          <p:nvPr/>
        </p:nvSpPr>
        <p:spPr>
          <a:xfrm>
            <a:off x="2880360" y="5349240"/>
            <a:ext cx="2011679" cy="1097280"/>
          </a:xfrm>
          <a:prstGeom prst="rect">
            <a:avLst/>
          </a:prstGeom>
          <a:noFill/>
        </p:spPr>
        <p:txBody>
          <a:bodyPr wrap="square">
            <a:spAutoFit/>
          </a:bodyPr>
          <a:lstStyle/>
          <a:p>
            <a:pPr algn="l">
              <a:spcBef>
                <a:spcPts val="0"/>
              </a:spcBef>
              <a:spcAft>
                <a:spcPts val="0"/>
              </a:spcAft>
              <a:defRPr sz="1000" b="0">
                <a:solidFill>
                  <a:srgbClr val="1E2761"/>
                </a:solidFill>
                <a:latin typeface="Arial"/>
              </a:defRPr>
            </a:pPr>
            <a:r>
              <a:t>Replace aggregates with RCA combined with application-based additives</a:t>
            </a:r>
          </a:p>
        </p:txBody>
      </p:sp>
      <p:sp>
        <p:nvSpPr>
          <p:cNvPr id="32" name="Rectangle 31"/>
          <p:cNvSpPr/>
          <p:nvPr/>
        </p:nvSpPr>
        <p:spPr>
          <a:xfrm>
            <a:off x="5120640" y="4846320"/>
            <a:ext cx="2194560" cy="1645920"/>
          </a:xfrm>
          <a:prstGeom prst="rect">
            <a:avLst/>
          </a:prstGeom>
          <a:solidFill>
            <a:srgbClr val="FFFFFF"/>
          </a:solidFill>
          <a:ln>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120640" y="4846320"/>
            <a:ext cx="219456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79" y="5029200"/>
            <a:ext cx="2011679" cy="274320"/>
          </a:xfrm>
          <a:prstGeom prst="rect">
            <a:avLst/>
          </a:prstGeom>
          <a:noFill/>
        </p:spPr>
        <p:txBody>
          <a:bodyPr wrap="square">
            <a:spAutoFit/>
          </a:bodyPr>
          <a:lstStyle/>
          <a:p>
            <a:pPr algn="l">
              <a:spcBef>
                <a:spcPts val="0"/>
              </a:spcBef>
              <a:spcAft>
                <a:spcPts val="0"/>
              </a:spcAft>
              <a:defRPr sz="1200" b="1">
                <a:solidFill>
                  <a:srgbClr val="028090"/>
                </a:solidFill>
                <a:latin typeface="Arial"/>
              </a:defRPr>
            </a:pPr>
            <a:r>
              <a:t>Impact</a:t>
            </a:r>
          </a:p>
        </p:txBody>
      </p:sp>
      <p:sp>
        <p:nvSpPr>
          <p:cNvPr id="35" name="TextBox 34"/>
          <p:cNvSpPr txBox="1"/>
          <p:nvPr/>
        </p:nvSpPr>
        <p:spPr>
          <a:xfrm>
            <a:off x="5212079" y="5349240"/>
            <a:ext cx="2011679" cy="1097280"/>
          </a:xfrm>
          <a:prstGeom prst="rect">
            <a:avLst/>
          </a:prstGeom>
          <a:noFill/>
        </p:spPr>
        <p:txBody>
          <a:bodyPr wrap="square">
            <a:spAutoFit/>
          </a:bodyPr>
          <a:lstStyle/>
          <a:p>
            <a:pPr algn="l">
              <a:spcBef>
                <a:spcPts val="0"/>
              </a:spcBef>
              <a:spcAft>
                <a:spcPts val="0"/>
              </a:spcAft>
              <a:defRPr sz="1000" b="0">
                <a:solidFill>
                  <a:srgbClr val="1E2761"/>
                </a:solidFill>
                <a:latin typeface="Arial"/>
              </a:defRPr>
            </a:pPr>
            <a:r>
              <a:t>Substantial reduction of waste, CO2 and materially stronger concrete</a:t>
            </a:r>
          </a:p>
        </p:txBody>
      </p:sp>
      <p:sp>
        <p:nvSpPr>
          <p:cNvPr id="36" name="Rectangle 35"/>
          <p:cNvSpPr/>
          <p:nvPr/>
        </p:nvSpPr>
        <p:spPr>
          <a:xfrm>
            <a:off x="7452359" y="4846320"/>
            <a:ext cx="2194560" cy="1645920"/>
          </a:xfrm>
          <a:prstGeom prst="rect">
            <a:avLst/>
          </a:prstGeom>
          <a:solidFill>
            <a:srgbClr val="FFFFFF"/>
          </a:solidFill>
          <a:ln>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52359" y="4846320"/>
            <a:ext cx="219456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799" y="5029200"/>
            <a:ext cx="2011679" cy="274320"/>
          </a:xfrm>
          <a:prstGeom prst="rect">
            <a:avLst/>
          </a:prstGeom>
          <a:noFill/>
        </p:spPr>
        <p:txBody>
          <a:bodyPr wrap="square">
            <a:spAutoFit/>
          </a:bodyPr>
          <a:lstStyle/>
          <a:p>
            <a:pPr algn="l">
              <a:spcBef>
                <a:spcPts val="0"/>
              </a:spcBef>
              <a:spcAft>
                <a:spcPts val="0"/>
              </a:spcAft>
              <a:defRPr sz="1200" b="1">
                <a:solidFill>
                  <a:srgbClr val="028090"/>
                </a:solidFill>
                <a:latin typeface="Arial"/>
              </a:defRPr>
            </a:pPr>
            <a:r>
              <a:t>Global</a:t>
            </a:r>
          </a:p>
        </p:txBody>
      </p:sp>
      <p:sp>
        <p:nvSpPr>
          <p:cNvPr id="39" name="TextBox 38"/>
          <p:cNvSpPr txBox="1"/>
          <p:nvPr/>
        </p:nvSpPr>
        <p:spPr>
          <a:xfrm>
            <a:off x="7543799" y="5349240"/>
            <a:ext cx="2011679" cy="1097280"/>
          </a:xfrm>
          <a:prstGeom prst="rect">
            <a:avLst/>
          </a:prstGeom>
          <a:noFill/>
        </p:spPr>
        <p:txBody>
          <a:bodyPr wrap="square">
            <a:spAutoFit/>
          </a:bodyPr>
          <a:lstStyle/>
          <a:p>
            <a:pPr algn="l">
              <a:spcBef>
                <a:spcPts val="0"/>
              </a:spcBef>
              <a:spcAft>
                <a:spcPts val="0"/>
              </a:spcAft>
              <a:defRPr sz="1000" b="0">
                <a:solidFill>
                  <a:srgbClr val="1E2761"/>
                </a:solidFill>
                <a:latin typeface="Arial"/>
              </a:defRPr>
            </a:pPr>
            <a:r>
              <a:t>Fully modular and scalable with planned projects globally</a:t>
            </a:r>
          </a:p>
        </p:txBody>
      </p:sp>
      <p:sp>
        <p:nvSpPr>
          <p:cNvPr id="40" name="Rectangle 39"/>
          <p:cNvSpPr/>
          <p:nvPr/>
        </p:nvSpPr>
        <p:spPr>
          <a:xfrm>
            <a:off x="9784080" y="4846320"/>
            <a:ext cx="2194560" cy="1645920"/>
          </a:xfrm>
          <a:prstGeom prst="rect">
            <a:avLst/>
          </a:prstGeom>
          <a:solidFill>
            <a:srgbClr val="FFFFFF"/>
          </a:solidFill>
          <a:ln>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784080" y="4846320"/>
            <a:ext cx="2194560" cy="7315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19" y="5029200"/>
            <a:ext cx="2011679" cy="274320"/>
          </a:xfrm>
          <a:prstGeom prst="rect">
            <a:avLst/>
          </a:prstGeom>
          <a:noFill/>
        </p:spPr>
        <p:txBody>
          <a:bodyPr wrap="square">
            <a:spAutoFit/>
          </a:bodyPr>
          <a:lstStyle/>
          <a:p>
            <a:pPr algn="l">
              <a:spcBef>
                <a:spcPts val="0"/>
              </a:spcBef>
              <a:spcAft>
                <a:spcPts val="0"/>
              </a:spcAft>
              <a:defRPr sz="1200" b="1">
                <a:solidFill>
                  <a:srgbClr val="028090"/>
                </a:solidFill>
                <a:latin typeface="Arial"/>
              </a:defRPr>
            </a:pPr>
            <a:r>
              <a:t>Practical</a:t>
            </a:r>
          </a:p>
        </p:txBody>
      </p:sp>
      <p:sp>
        <p:nvSpPr>
          <p:cNvPr id="43" name="TextBox 42"/>
          <p:cNvSpPr txBox="1"/>
          <p:nvPr/>
        </p:nvSpPr>
        <p:spPr>
          <a:xfrm>
            <a:off x="9875519" y="5349240"/>
            <a:ext cx="2011679" cy="1097280"/>
          </a:xfrm>
          <a:prstGeom prst="rect">
            <a:avLst/>
          </a:prstGeom>
          <a:noFill/>
        </p:spPr>
        <p:txBody>
          <a:bodyPr wrap="square">
            <a:spAutoFit/>
          </a:bodyPr>
          <a:lstStyle/>
          <a:p>
            <a:pPr algn="l">
              <a:spcBef>
                <a:spcPts val="0"/>
              </a:spcBef>
              <a:spcAft>
                <a:spcPts val="0"/>
              </a:spcAft>
              <a:defRPr sz="1000" b="0">
                <a:solidFill>
                  <a:srgbClr val="1E2761"/>
                </a:solidFill>
                <a:latin typeface="Arial"/>
              </a:defRPr>
            </a:pPr>
            <a:r>
              <a:t>Compatible with existing equipment – no new capex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About us</a:t>
            </a:r>
          </a:p>
        </p:txBody>
      </p:sp>
      <p:sp>
        <p:nvSpPr>
          <p:cNvPr id="4" name="TextBox 3"/>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Market demand</a:t>
            </a:r>
          </a:p>
        </p:txBody>
      </p:sp>
      <p:sp>
        <p:nvSpPr>
          <p:cNvPr id="5" name="TextBox 4"/>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Solution &amp; impact</a:t>
            </a:r>
          </a:p>
        </p:txBody>
      </p:sp>
      <p:sp>
        <p:nvSpPr>
          <p:cNvPr id="6" name="TextBox 5"/>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Team and advisors</a:t>
            </a:r>
          </a:p>
        </p:txBody>
      </p:sp>
      <p:sp>
        <p:nvSpPr>
          <p:cNvPr id="7" name="TextBox 6"/>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Contact us</a:t>
            </a:r>
          </a:p>
        </p:txBody>
      </p:sp>
      <p:sp>
        <p:nvSpPr>
          <p:cNvPr id="8" name="TextBox 7"/>
          <p:cNvSpPr txBox="1"/>
          <p:nvPr/>
        </p:nvSpPr>
        <p:spPr>
          <a:xfrm>
            <a:off x="457200" y="731520"/>
            <a:ext cx="10972800" cy="548640"/>
          </a:xfrm>
          <a:prstGeom prst="rect">
            <a:avLst/>
          </a:prstGeom>
          <a:noFill/>
        </p:spPr>
        <p:txBody>
          <a:bodyPr wrap="square">
            <a:spAutoFit/>
          </a:bodyPr>
          <a:lstStyle/>
          <a:p>
            <a:pPr algn="l">
              <a:spcBef>
                <a:spcPts val="0"/>
              </a:spcBef>
              <a:spcAft>
                <a:spcPts val="0"/>
              </a:spcAft>
              <a:defRPr sz="3200" b="1">
                <a:solidFill>
                  <a:srgbClr val="FFFFFF"/>
                </a:solidFill>
                <a:latin typeface="Arial"/>
              </a:defRPr>
            </a:pPr>
            <a:r>
              <a:t>Market Demand</a:t>
            </a:r>
          </a:p>
        </p:txBody>
      </p:sp>
      <p:sp>
        <p:nvSpPr>
          <p:cNvPr id="9" name="TextBox 8"/>
          <p:cNvSpPr txBox="1"/>
          <p:nvPr/>
        </p:nvSpPr>
        <p:spPr>
          <a:xfrm>
            <a:off x="457200" y="1371600"/>
            <a:ext cx="10972800" cy="731520"/>
          </a:xfrm>
          <a:prstGeom prst="rect">
            <a:avLst/>
          </a:prstGeom>
          <a:noFill/>
        </p:spPr>
        <p:txBody>
          <a:bodyPr wrap="square">
            <a:spAutoFit/>
          </a:bodyPr>
          <a:lstStyle/>
          <a:p>
            <a:pPr algn="l">
              <a:spcBef>
                <a:spcPts val="0"/>
              </a:spcBef>
              <a:spcAft>
                <a:spcPts val="0"/>
              </a:spcAft>
              <a:defRPr sz="1400" b="0">
                <a:solidFill>
                  <a:srgbClr val="CADCFC"/>
                </a:solidFill>
                <a:latin typeface="Arial"/>
              </a:defRPr>
            </a:pPr>
            <a:r>
              <a:t>Demand for circular economy solutions in concrete production is rapidly increasing due to the need to reduce dependence on virgin materials, waste, CO2 footprint, and to lower costs.</a:t>
            </a:r>
          </a:p>
        </p:txBody>
      </p:sp>
      <p:sp>
        <p:nvSpPr>
          <p:cNvPr id="10" name="Rectangle 9"/>
          <p:cNvSpPr/>
          <p:nvPr/>
        </p:nvSpPr>
        <p:spPr>
          <a:xfrm>
            <a:off x="457200" y="2286000"/>
            <a:ext cx="3657600" cy="411480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286000"/>
            <a:ext cx="3657600" cy="9144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60320"/>
            <a:ext cx="3291840" cy="457200"/>
          </a:xfrm>
          <a:prstGeom prst="rect">
            <a:avLst/>
          </a:prstGeom>
          <a:noFill/>
        </p:spPr>
        <p:txBody>
          <a:bodyPr wrap="square">
            <a:spAutoFit/>
          </a:bodyPr>
          <a:lstStyle/>
          <a:p>
            <a:pPr algn="l">
              <a:spcBef>
                <a:spcPts val="0"/>
              </a:spcBef>
              <a:spcAft>
                <a:spcPts val="0"/>
              </a:spcAft>
              <a:defRPr sz="1600" b="1">
                <a:solidFill>
                  <a:srgbClr val="028090"/>
                </a:solidFill>
                <a:latin typeface="Arial"/>
              </a:defRPr>
            </a:pPr>
            <a:r>
              <a:t>Environmental Challenges</a:t>
            </a:r>
          </a:p>
        </p:txBody>
      </p:sp>
      <p:sp>
        <p:nvSpPr>
          <p:cNvPr id="13" name="TextBox 12"/>
          <p:cNvSpPr txBox="1"/>
          <p:nvPr/>
        </p:nvSpPr>
        <p:spPr>
          <a:xfrm>
            <a:off x="640080" y="3200400"/>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Waste: Concrete accounts for 25-35% of all waste</a:t>
            </a:r>
          </a:p>
        </p:txBody>
      </p:sp>
      <p:sp>
        <p:nvSpPr>
          <p:cNvPr id="14" name="TextBox 13"/>
          <p:cNvSpPr txBox="1"/>
          <p:nvPr/>
        </p:nvSpPr>
        <p:spPr>
          <a:xfrm>
            <a:off x="640080" y="397763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CO2: One of largest sources globally</a:t>
            </a:r>
          </a:p>
        </p:txBody>
      </p:sp>
      <p:sp>
        <p:nvSpPr>
          <p:cNvPr id="15" name="TextBox 14"/>
          <p:cNvSpPr txBox="1"/>
          <p:nvPr/>
        </p:nvSpPr>
        <p:spPr>
          <a:xfrm>
            <a:off x="640080" y="475487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Biodiversity: Sand/gravel extraction threatens ecosystems</a:t>
            </a:r>
          </a:p>
        </p:txBody>
      </p:sp>
      <p:sp>
        <p:nvSpPr>
          <p:cNvPr id="16" name="TextBox 15"/>
          <p:cNvSpPr txBox="1"/>
          <p:nvPr/>
        </p:nvSpPr>
        <p:spPr>
          <a:xfrm>
            <a:off x="640080" y="553211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Erosion, water pollution, logistics burden</a:t>
            </a:r>
          </a:p>
        </p:txBody>
      </p:sp>
      <p:sp>
        <p:nvSpPr>
          <p:cNvPr id="17" name="Rectangle 16"/>
          <p:cNvSpPr/>
          <p:nvPr/>
        </p:nvSpPr>
        <p:spPr>
          <a:xfrm>
            <a:off x="4297680" y="2286000"/>
            <a:ext cx="3657600" cy="411480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2286000"/>
            <a:ext cx="3657600" cy="91440"/>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2560320"/>
            <a:ext cx="3291840" cy="457200"/>
          </a:xfrm>
          <a:prstGeom prst="rect">
            <a:avLst/>
          </a:prstGeom>
          <a:noFill/>
        </p:spPr>
        <p:txBody>
          <a:bodyPr wrap="square">
            <a:spAutoFit/>
          </a:bodyPr>
          <a:lstStyle/>
          <a:p>
            <a:pPr algn="l">
              <a:spcBef>
                <a:spcPts val="0"/>
              </a:spcBef>
              <a:spcAft>
                <a:spcPts val="0"/>
              </a:spcAft>
              <a:defRPr sz="1600" b="1">
                <a:solidFill>
                  <a:srgbClr val="00A896"/>
                </a:solidFill>
                <a:latin typeface="Arial"/>
              </a:defRPr>
            </a:pPr>
            <a:r>
              <a:t>Global Challenges</a:t>
            </a:r>
          </a:p>
        </p:txBody>
      </p:sp>
      <p:sp>
        <p:nvSpPr>
          <p:cNvPr id="20" name="TextBox 19"/>
          <p:cNvSpPr txBox="1"/>
          <p:nvPr/>
        </p:nvSpPr>
        <p:spPr>
          <a:xfrm>
            <a:off x="4480560" y="3200400"/>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Lack of access to suitable aggregates</a:t>
            </a:r>
          </a:p>
        </p:txBody>
      </p:sp>
      <p:sp>
        <p:nvSpPr>
          <p:cNvPr id="21" name="TextBox 20"/>
          <p:cNvSpPr txBox="1"/>
          <p:nvPr/>
        </p:nvSpPr>
        <p:spPr>
          <a:xfrm>
            <a:off x="4480560" y="397763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Increasing aggregate imports</a:t>
            </a:r>
          </a:p>
        </p:txBody>
      </p:sp>
      <p:sp>
        <p:nvSpPr>
          <p:cNvPr id="22" name="TextBox 21"/>
          <p:cNvSpPr txBox="1"/>
          <p:nvPr/>
        </p:nvSpPr>
        <p:spPr>
          <a:xfrm>
            <a:off x="4480560" y="475487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Illegal sand mining – major criminal activity</a:t>
            </a:r>
          </a:p>
        </p:txBody>
      </p:sp>
      <p:sp>
        <p:nvSpPr>
          <p:cNvPr id="23" name="TextBox 22"/>
          <p:cNvSpPr txBox="1"/>
          <p:nvPr/>
        </p:nvSpPr>
        <p:spPr>
          <a:xfrm>
            <a:off x="4480560" y="553211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Cost of logistics, lead times, efficiency</a:t>
            </a:r>
          </a:p>
        </p:txBody>
      </p:sp>
      <p:sp>
        <p:nvSpPr>
          <p:cNvPr id="24" name="Rectangle 23"/>
          <p:cNvSpPr/>
          <p:nvPr/>
        </p:nvSpPr>
        <p:spPr>
          <a:xfrm>
            <a:off x="8138160" y="2286000"/>
            <a:ext cx="3657600" cy="411480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60" y="2286000"/>
            <a:ext cx="3657600" cy="9144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2560320"/>
            <a:ext cx="3291840" cy="457200"/>
          </a:xfrm>
          <a:prstGeom prst="rect">
            <a:avLst/>
          </a:prstGeom>
          <a:noFill/>
        </p:spPr>
        <p:txBody>
          <a:bodyPr wrap="square">
            <a:spAutoFit/>
          </a:bodyPr>
          <a:lstStyle/>
          <a:p>
            <a:pPr algn="l">
              <a:spcBef>
                <a:spcPts val="0"/>
              </a:spcBef>
              <a:spcAft>
                <a:spcPts val="0"/>
              </a:spcAft>
              <a:defRPr sz="1600" b="1">
                <a:solidFill>
                  <a:srgbClr val="02C39A"/>
                </a:solidFill>
                <a:latin typeface="Arial"/>
              </a:defRPr>
            </a:pPr>
            <a:r>
              <a:t>Financial Opportunities</a:t>
            </a:r>
          </a:p>
        </p:txBody>
      </p:sp>
      <p:sp>
        <p:nvSpPr>
          <p:cNvPr id="27" name="TextBox 26"/>
          <p:cNvSpPr txBox="1"/>
          <p:nvPr/>
        </p:nvSpPr>
        <p:spPr>
          <a:xfrm>
            <a:off x="8321040" y="3200400"/>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USD +600bn aggregate industry</a:t>
            </a:r>
          </a:p>
        </p:txBody>
      </p:sp>
      <p:sp>
        <p:nvSpPr>
          <p:cNvPr id="28" name="TextBox 27"/>
          <p:cNvSpPr txBox="1"/>
          <p:nvPr/>
        </p:nvSpPr>
        <p:spPr>
          <a:xfrm>
            <a:off x="8321040" y="397763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RCA significantly cheaper alternative</a:t>
            </a:r>
          </a:p>
        </p:txBody>
      </p:sp>
      <p:sp>
        <p:nvSpPr>
          <p:cNvPr id="29" name="TextBox 28"/>
          <p:cNvSpPr txBox="1"/>
          <p:nvPr/>
        </p:nvSpPr>
        <p:spPr>
          <a:xfrm>
            <a:off x="8321040" y="475487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Cost savings: materials, logistics, waste</a:t>
            </a:r>
          </a:p>
        </p:txBody>
      </p:sp>
      <p:sp>
        <p:nvSpPr>
          <p:cNvPr id="30" name="TextBox 29"/>
          <p:cNvSpPr txBox="1"/>
          <p:nvPr/>
        </p:nvSpPr>
        <p:spPr>
          <a:xfrm>
            <a:off x="8321040" y="5532119"/>
            <a:ext cx="3291840" cy="731520"/>
          </a:xfrm>
          <a:prstGeom prst="rect">
            <a:avLst/>
          </a:prstGeom>
          <a:noFill/>
        </p:spPr>
        <p:txBody>
          <a:bodyPr wrap="square">
            <a:spAutoFit/>
          </a:bodyPr>
          <a:lstStyle/>
          <a:p>
            <a:pPr algn="l">
              <a:spcBef>
                <a:spcPts val="0"/>
              </a:spcBef>
              <a:spcAft>
                <a:spcPts val="0"/>
              </a:spcAft>
              <a:defRPr sz="1100" b="0">
                <a:solidFill>
                  <a:srgbClr val="FFFFFF"/>
                </a:solidFill>
                <a:latin typeface="Arial"/>
              </a:defRPr>
            </a:pPr>
            <a:r>
              <a:t>• CO2 reduction creates new profit avenues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About us</a:t>
            </a:r>
          </a:p>
        </p:txBody>
      </p:sp>
      <p:sp>
        <p:nvSpPr>
          <p:cNvPr id="5" name="TextBox 4"/>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Market demand</a:t>
            </a:r>
          </a:p>
        </p:txBody>
      </p:sp>
      <p:sp>
        <p:nvSpPr>
          <p:cNvPr id="6" name="TextBox 5"/>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Solution &amp; impact</a:t>
            </a:r>
          </a:p>
        </p:txBody>
      </p:sp>
      <p:sp>
        <p:nvSpPr>
          <p:cNvPr id="7" name="TextBox 6"/>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Team and advisors</a:t>
            </a:r>
          </a:p>
        </p:txBody>
      </p:sp>
      <p:sp>
        <p:nvSpPr>
          <p:cNvPr id="8" name="TextBox 7"/>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Contact us</a:t>
            </a:r>
          </a:p>
        </p:txBody>
      </p:sp>
      <p:sp>
        <p:nvSpPr>
          <p:cNvPr id="9" name="TextBox 8"/>
          <p:cNvSpPr txBox="1"/>
          <p:nvPr/>
        </p:nvSpPr>
        <p:spPr>
          <a:xfrm>
            <a:off x="457200" y="548640"/>
            <a:ext cx="5486400" cy="457200"/>
          </a:xfrm>
          <a:prstGeom prst="rect">
            <a:avLst/>
          </a:prstGeom>
          <a:noFill/>
        </p:spPr>
        <p:txBody>
          <a:bodyPr wrap="square">
            <a:spAutoFit/>
          </a:bodyPr>
          <a:lstStyle/>
          <a:p>
            <a:pPr algn="l">
              <a:spcBef>
                <a:spcPts val="0"/>
              </a:spcBef>
              <a:spcAft>
                <a:spcPts val="0"/>
              </a:spcAft>
              <a:defRPr sz="2400" b="1">
                <a:solidFill>
                  <a:srgbClr val="FFFFFF"/>
                </a:solidFill>
                <a:latin typeface="Arial"/>
              </a:defRPr>
            </a:pPr>
            <a:r>
              <a:t>Solution &amp; Process</a:t>
            </a:r>
          </a:p>
        </p:txBody>
      </p:sp>
      <p:sp>
        <p:nvSpPr>
          <p:cNvPr id="10" name="TextBox 9"/>
          <p:cNvSpPr txBox="1"/>
          <p:nvPr/>
        </p:nvSpPr>
        <p:spPr>
          <a:xfrm>
            <a:off x="457200" y="1371600"/>
            <a:ext cx="10972800" cy="731520"/>
          </a:xfrm>
          <a:prstGeom prst="rect">
            <a:avLst/>
          </a:prstGeom>
          <a:noFill/>
        </p:spPr>
        <p:txBody>
          <a:bodyPr wrap="square">
            <a:spAutoFit/>
          </a:bodyPr>
          <a:lstStyle/>
          <a:p>
            <a:pPr algn="l">
              <a:spcBef>
                <a:spcPts val="0"/>
              </a:spcBef>
              <a:spcAft>
                <a:spcPts val="0"/>
              </a:spcAft>
              <a:defRPr sz="1400" b="0">
                <a:solidFill>
                  <a:srgbClr val="1E2761"/>
                </a:solidFill>
                <a:latin typeface="Arial"/>
              </a:defRPr>
            </a:pPr>
            <a:r>
              <a:t>Customer need drives generation of RCA. On-boarding requirements and specifications from customers are used to optimise the generation of RCA from CDW to replace aggregates.</a:t>
            </a:r>
          </a:p>
        </p:txBody>
      </p:sp>
      <p:sp>
        <p:nvSpPr>
          <p:cNvPr id="11" name="Oval 10"/>
          <p:cNvSpPr/>
          <p:nvPr/>
        </p:nvSpPr>
        <p:spPr>
          <a:xfrm>
            <a:off x="1280160" y="2560320"/>
            <a:ext cx="640080" cy="64008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2697479"/>
            <a:ext cx="640080" cy="457200"/>
          </a:xfrm>
          <a:prstGeom prst="rect">
            <a:avLst/>
          </a:prstGeom>
          <a:noFill/>
        </p:spPr>
        <p:txBody>
          <a:bodyPr wrap="square">
            <a:spAutoFit/>
          </a:bodyPr>
          <a:lstStyle/>
          <a:p>
            <a:pPr algn="ctr">
              <a:spcBef>
                <a:spcPts val="0"/>
              </a:spcBef>
              <a:spcAft>
                <a:spcPts val="0"/>
              </a:spcAft>
              <a:defRPr sz="2400" b="1">
                <a:solidFill>
                  <a:srgbClr val="FFFFFF"/>
                </a:solidFill>
                <a:latin typeface="Arial"/>
              </a:defRPr>
            </a:pPr>
            <a:r>
              <a:t>1</a:t>
            </a:r>
          </a:p>
        </p:txBody>
      </p:sp>
      <p:sp>
        <p:nvSpPr>
          <p:cNvPr id="13" name="Right Arrow 12"/>
          <p:cNvSpPr/>
          <p:nvPr/>
        </p:nvSpPr>
        <p:spPr>
          <a:xfrm>
            <a:off x="2103120" y="2788920"/>
            <a:ext cx="731520" cy="18288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383279"/>
            <a:ext cx="1828800" cy="640080"/>
          </a:xfrm>
          <a:prstGeom prst="rect">
            <a:avLst/>
          </a:prstGeom>
          <a:noFill/>
        </p:spPr>
        <p:txBody>
          <a:bodyPr wrap="square">
            <a:spAutoFit/>
          </a:bodyPr>
          <a:lstStyle/>
          <a:p>
            <a:pPr algn="ctr">
              <a:spcBef>
                <a:spcPts val="0"/>
              </a:spcBef>
              <a:spcAft>
                <a:spcPts val="0"/>
              </a:spcAft>
              <a:defRPr sz="1300" b="1">
                <a:solidFill>
                  <a:srgbClr val="1E2761"/>
                </a:solidFill>
                <a:latin typeface="Arial"/>
              </a:defRPr>
            </a:pPr>
            <a:r>
              <a:t>Imaging &amp;</a:t>
            </a:r>
            <a:br/>
            <a:r>
              <a:t>Certify</a:t>
            </a:r>
          </a:p>
        </p:txBody>
      </p:sp>
      <p:sp>
        <p:nvSpPr>
          <p:cNvPr id="15" name="TextBox 14"/>
          <p:cNvSpPr txBox="1"/>
          <p:nvPr/>
        </p:nvSpPr>
        <p:spPr>
          <a:xfrm>
            <a:off x="731520" y="3931920"/>
            <a:ext cx="1828800" cy="365760"/>
          </a:xfrm>
          <a:prstGeom prst="rect">
            <a:avLst/>
          </a:prstGeom>
          <a:noFill/>
        </p:spPr>
        <p:txBody>
          <a:bodyPr wrap="square">
            <a:spAutoFit/>
          </a:bodyPr>
          <a:lstStyle/>
          <a:p>
            <a:pPr algn="ctr">
              <a:spcBef>
                <a:spcPts val="0"/>
              </a:spcBef>
              <a:spcAft>
                <a:spcPts val="0"/>
              </a:spcAft>
              <a:defRPr sz="1000" b="0">
                <a:solidFill>
                  <a:srgbClr val="028090"/>
                </a:solidFill>
                <a:latin typeface="Arial"/>
              </a:defRPr>
            </a:pPr>
            <a:r>
              <a:t>Data gathering</a:t>
            </a:r>
          </a:p>
        </p:txBody>
      </p:sp>
      <p:sp>
        <p:nvSpPr>
          <p:cNvPr id="16" name="Oval 15"/>
          <p:cNvSpPr/>
          <p:nvPr/>
        </p:nvSpPr>
        <p:spPr>
          <a:xfrm>
            <a:off x="3566160" y="2560320"/>
            <a:ext cx="640080" cy="64008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2697479"/>
            <a:ext cx="640080" cy="457200"/>
          </a:xfrm>
          <a:prstGeom prst="rect">
            <a:avLst/>
          </a:prstGeom>
          <a:noFill/>
        </p:spPr>
        <p:txBody>
          <a:bodyPr wrap="square">
            <a:spAutoFit/>
          </a:bodyPr>
          <a:lstStyle/>
          <a:p>
            <a:pPr algn="ctr">
              <a:spcBef>
                <a:spcPts val="0"/>
              </a:spcBef>
              <a:spcAft>
                <a:spcPts val="0"/>
              </a:spcAft>
              <a:defRPr sz="2400" b="1">
                <a:solidFill>
                  <a:srgbClr val="FFFFFF"/>
                </a:solidFill>
                <a:latin typeface="Arial"/>
              </a:defRPr>
            </a:pPr>
            <a:r>
              <a:t>2</a:t>
            </a:r>
          </a:p>
        </p:txBody>
      </p:sp>
      <p:sp>
        <p:nvSpPr>
          <p:cNvPr id="18" name="Right Arrow 17"/>
          <p:cNvSpPr/>
          <p:nvPr/>
        </p:nvSpPr>
        <p:spPr>
          <a:xfrm>
            <a:off x="4389120" y="2788920"/>
            <a:ext cx="731520" cy="18288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3383279"/>
            <a:ext cx="1828800" cy="640080"/>
          </a:xfrm>
          <a:prstGeom prst="rect">
            <a:avLst/>
          </a:prstGeom>
          <a:noFill/>
        </p:spPr>
        <p:txBody>
          <a:bodyPr wrap="square">
            <a:spAutoFit/>
          </a:bodyPr>
          <a:lstStyle/>
          <a:p>
            <a:pPr algn="ctr">
              <a:spcBef>
                <a:spcPts val="0"/>
              </a:spcBef>
              <a:spcAft>
                <a:spcPts val="0"/>
              </a:spcAft>
              <a:defRPr sz="1300" b="1">
                <a:solidFill>
                  <a:srgbClr val="1E2761"/>
                </a:solidFill>
                <a:latin typeface="Arial"/>
              </a:defRPr>
            </a:pPr>
            <a:r>
              <a:t>Classify &amp;</a:t>
            </a:r>
            <a:br/>
            <a:r>
              <a:t>Process</a:t>
            </a:r>
          </a:p>
        </p:txBody>
      </p:sp>
      <p:sp>
        <p:nvSpPr>
          <p:cNvPr id="20" name="TextBox 19"/>
          <p:cNvSpPr txBox="1"/>
          <p:nvPr/>
        </p:nvSpPr>
        <p:spPr>
          <a:xfrm>
            <a:off x="3017520" y="3931920"/>
            <a:ext cx="1828800" cy="365760"/>
          </a:xfrm>
          <a:prstGeom prst="rect">
            <a:avLst/>
          </a:prstGeom>
          <a:noFill/>
        </p:spPr>
        <p:txBody>
          <a:bodyPr wrap="square">
            <a:spAutoFit/>
          </a:bodyPr>
          <a:lstStyle/>
          <a:p>
            <a:pPr algn="ctr">
              <a:spcBef>
                <a:spcPts val="0"/>
              </a:spcBef>
              <a:spcAft>
                <a:spcPts val="0"/>
              </a:spcAft>
              <a:defRPr sz="1000" b="0">
                <a:solidFill>
                  <a:srgbClr val="028090"/>
                </a:solidFill>
                <a:latin typeface="Arial"/>
              </a:defRPr>
            </a:pPr>
            <a:r>
              <a:t>AI Driven</a:t>
            </a:r>
          </a:p>
        </p:txBody>
      </p:sp>
      <p:sp>
        <p:nvSpPr>
          <p:cNvPr id="21" name="Oval 20"/>
          <p:cNvSpPr/>
          <p:nvPr/>
        </p:nvSpPr>
        <p:spPr>
          <a:xfrm>
            <a:off x="5852159" y="2560320"/>
            <a:ext cx="640080" cy="64008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59" y="2697479"/>
            <a:ext cx="640080" cy="457200"/>
          </a:xfrm>
          <a:prstGeom prst="rect">
            <a:avLst/>
          </a:prstGeom>
          <a:noFill/>
        </p:spPr>
        <p:txBody>
          <a:bodyPr wrap="square">
            <a:spAutoFit/>
          </a:bodyPr>
          <a:lstStyle/>
          <a:p>
            <a:pPr algn="ctr">
              <a:spcBef>
                <a:spcPts val="0"/>
              </a:spcBef>
              <a:spcAft>
                <a:spcPts val="0"/>
              </a:spcAft>
              <a:defRPr sz="2400" b="1">
                <a:solidFill>
                  <a:srgbClr val="FFFFFF"/>
                </a:solidFill>
                <a:latin typeface="Arial"/>
              </a:defRPr>
            </a:pPr>
            <a:r>
              <a:t>3</a:t>
            </a:r>
          </a:p>
        </p:txBody>
      </p:sp>
      <p:sp>
        <p:nvSpPr>
          <p:cNvPr id="23" name="Right Arrow 22"/>
          <p:cNvSpPr/>
          <p:nvPr/>
        </p:nvSpPr>
        <p:spPr>
          <a:xfrm>
            <a:off x="6675120" y="2788920"/>
            <a:ext cx="731520" cy="18288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0" y="3383279"/>
            <a:ext cx="1828800" cy="640080"/>
          </a:xfrm>
          <a:prstGeom prst="rect">
            <a:avLst/>
          </a:prstGeom>
          <a:noFill/>
        </p:spPr>
        <p:txBody>
          <a:bodyPr wrap="square">
            <a:spAutoFit/>
          </a:bodyPr>
          <a:lstStyle/>
          <a:p>
            <a:pPr algn="ctr">
              <a:spcBef>
                <a:spcPts val="0"/>
              </a:spcBef>
              <a:spcAft>
                <a:spcPts val="0"/>
              </a:spcAft>
              <a:defRPr sz="1300" b="1">
                <a:solidFill>
                  <a:srgbClr val="1E2761"/>
                </a:solidFill>
                <a:latin typeface="Arial"/>
              </a:defRPr>
            </a:pPr>
            <a:r>
              <a:t>Crushing &amp;</a:t>
            </a:r>
            <a:br/>
            <a:r>
              <a:t>Sieving</a:t>
            </a:r>
          </a:p>
        </p:txBody>
      </p:sp>
      <p:sp>
        <p:nvSpPr>
          <p:cNvPr id="25" name="TextBox 24"/>
          <p:cNvSpPr txBox="1"/>
          <p:nvPr/>
        </p:nvSpPr>
        <p:spPr>
          <a:xfrm>
            <a:off x="5303520" y="3931920"/>
            <a:ext cx="1828800" cy="365760"/>
          </a:xfrm>
          <a:prstGeom prst="rect">
            <a:avLst/>
          </a:prstGeom>
          <a:noFill/>
        </p:spPr>
        <p:txBody>
          <a:bodyPr wrap="square">
            <a:spAutoFit/>
          </a:bodyPr>
          <a:lstStyle/>
          <a:p>
            <a:pPr algn="ctr">
              <a:spcBef>
                <a:spcPts val="0"/>
              </a:spcBef>
              <a:spcAft>
                <a:spcPts val="0"/>
              </a:spcAft>
              <a:defRPr sz="1000" b="0">
                <a:solidFill>
                  <a:srgbClr val="028090"/>
                </a:solidFill>
                <a:latin typeface="Arial"/>
              </a:defRPr>
            </a:pPr>
            <a:r>
              <a:t>Equipment today</a:t>
            </a:r>
          </a:p>
        </p:txBody>
      </p:sp>
      <p:sp>
        <p:nvSpPr>
          <p:cNvPr id="26" name="Oval 25"/>
          <p:cNvSpPr/>
          <p:nvPr/>
        </p:nvSpPr>
        <p:spPr>
          <a:xfrm>
            <a:off x="8138160" y="2560320"/>
            <a:ext cx="640080" cy="64008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2697479"/>
            <a:ext cx="640080" cy="457200"/>
          </a:xfrm>
          <a:prstGeom prst="rect">
            <a:avLst/>
          </a:prstGeom>
          <a:noFill/>
        </p:spPr>
        <p:txBody>
          <a:bodyPr wrap="square">
            <a:spAutoFit/>
          </a:bodyPr>
          <a:lstStyle/>
          <a:p>
            <a:pPr algn="ctr">
              <a:spcBef>
                <a:spcPts val="0"/>
              </a:spcBef>
              <a:spcAft>
                <a:spcPts val="0"/>
              </a:spcAft>
              <a:defRPr sz="2400" b="1">
                <a:solidFill>
                  <a:srgbClr val="FFFFFF"/>
                </a:solidFill>
                <a:latin typeface="Arial"/>
              </a:defRPr>
            </a:pPr>
            <a:r>
              <a:t>4</a:t>
            </a:r>
          </a:p>
        </p:txBody>
      </p:sp>
      <p:sp>
        <p:nvSpPr>
          <p:cNvPr id="28" name="Right Arrow 27"/>
          <p:cNvSpPr/>
          <p:nvPr/>
        </p:nvSpPr>
        <p:spPr>
          <a:xfrm>
            <a:off x="8961120" y="2788920"/>
            <a:ext cx="731520" cy="182880"/>
          </a:xfrm>
          <a:prstGeom prst="rightArrow">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3383279"/>
            <a:ext cx="1828800" cy="640080"/>
          </a:xfrm>
          <a:prstGeom prst="rect">
            <a:avLst/>
          </a:prstGeom>
          <a:noFill/>
        </p:spPr>
        <p:txBody>
          <a:bodyPr wrap="square">
            <a:spAutoFit/>
          </a:bodyPr>
          <a:lstStyle/>
          <a:p>
            <a:pPr algn="ctr">
              <a:spcBef>
                <a:spcPts val="0"/>
              </a:spcBef>
              <a:spcAft>
                <a:spcPts val="0"/>
              </a:spcAft>
              <a:defRPr sz="1300" b="1">
                <a:solidFill>
                  <a:srgbClr val="1E2761"/>
                </a:solidFill>
                <a:latin typeface="Arial"/>
              </a:defRPr>
            </a:pPr>
            <a:r>
              <a:t>Mixing &amp;</a:t>
            </a:r>
            <a:br/>
            <a:r>
              <a:t>Additives</a:t>
            </a:r>
          </a:p>
        </p:txBody>
      </p:sp>
      <p:sp>
        <p:nvSpPr>
          <p:cNvPr id="30" name="TextBox 29"/>
          <p:cNvSpPr txBox="1"/>
          <p:nvPr/>
        </p:nvSpPr>
        <p:spPr>
          <a:xfrm>
            <a:off x="7589520" y="3931920"/>
            <a:ext cx="1828800" cy="365760"/>
          </a:xfrm>
          <a:prstGeom prst="rect">
            <a:avLst/>
          </a:prstGeom>
          <a:noFill/>
        </p:spPr>
        <p:txBody>
          <a:bodyPr wrap="square">
            <a:spAutoFit/>
          </a:bodyPr>
          <a:lstStyle/>
          <a:p>
            <a:pPr algn="ctr">
              <a:spcBef>
                <a:spcPts val="0"/>
              </a:spcBef>
              <a:spcAft>
                <a:spcPts val="0"/>
              </a:spcAft>
              <a:defRPr sz="1000" b="0">
                <a:solidFill>
                  <a:srgbClr val="028090"/>
                </a:solidFill>
                <a:latin typeface="Arial"/>
              </a:defRPr>
            </a:pPr>
            <a:r>
              <a:t>Global access</a:t>
            </a:r>
          </a:p>
        </p:txBody>
      </p:sp>
      <p:sp>
        <p:nvSpPr>
          <p:cNvPr id="31" name="Oval 30"/>
          <p:cNvSpPr/>
          <p:nvPr/>
        </p:nvSpPr>
        <p:spPr>
          <a:xfrm>
            <a:off x="10424160" y="2560320"/>
            <a:ext cx="640080" cy="64008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24160" y="2697479"/>
            <a:ext cx="640080" cy="457200"/>
          </a:xfrm>
          <a:prstGeom prst="rect">
            <a:avLst/>
          </a:prstGeom>
          <a:noFill/>
        </p:spPr>
        <p:txBody>
          <a:bodyPr wrap="square">
            <a:spAutoFit/>
          </a:bodyPr>
          <a:lstStyle/>
          <a:p>
            <a:pPr algn="ctr">
              <a:spcBef>
                <a:spcPts val="0"/>
              </a:spcBef>
              <a:spcAft>
                <a:spcPts val="0"/>
              </a:spcAft>
              <a:defRPr sz="2400" b="1">
                <a:solidFill>
                  <a:srgbClr val="FFFFFF"/>
                </a:solidFill>
                <a:latin typeface="Arial"/>
              </a:defRPr>
            </a:pPr>
            <a:r>
              <a:t>5</a:t>
            </a:r>
          </a:p>
        </p:txBody>
      </p:sp>
      <p:sp>
        <p:nvSpPr>
          <p:cNvPr id="33" name="TextBox 32"/>
          <p:cNvSpPr txBox="1"/>
          <p:nvPr/>
        </p:nvSpPr>
        <p:spPr>
          <a:xfrm>
            <a:off x="9875520" y="3383279"/>
            <a:ext cx="1828800" cy="640080"/>
          </a:xfrm>
          <a:prstGeom prst="rect">
            <a:avLst/>
          </a:prstGeom>
          <a:noFill/>
        </p:spPr>
        <p:txBody>
          <a:bodyPr wrap="square">
            <a:spAutoFit/>
          </a:bodyPr>
          <a:lstStyle/>
          <a:p>
            <a:pPr algn="ctr">
              <a:spcBef>
                <a:spcPts val="0"/>
              </a:spcBef>
              <a:spcAft>
                <a:spcPts val="0"/>
              </a:spcAft>
              <a:defRPr sz="1300" b="1">
                <a:solidFill>
                  <a:srgbClr val="1E2761"/>
                </a:solidFill>
                <a:latin typeface="Arial"/>
              </a:defRPr>
            </a:pPr>
            <a:r>
              <a:t>RCA</a:t>
            </a:r>
            <a:br/>
            <a:r>
              <a:t>Concrete</a:t>
            </a:r>
          </a:p>
        </p:txBody>
      </p:sp>
      <p:sp>
        <p:nvSpPr>
          <p:cNvPr id="34" name="TextBox 33"/>
          <p:cNvSpPr txBox="1"/>
          <p:nvPr/>
        </p:nvSpPr>
        <p:spPr>
          <a:xfrm>
            <a:off x="9875520" y="3931920"/>
            <a:ext cx="1828800" cy="365760"/>
          </a:xfrm>
          <a:prstGeom prst="rect">
            <a:avLst/>
          </a:prstGeom>
          <a:noFill/>
        </p:spPr>
        <p:txBody>
          <a:bodyPr wrap="square">
            <a:spAutoFit/>
          </a:bodyPr>
          <a:lstStyle/>
          <a:p>
            <a:pPr algn="ctr">
              <a:spcBef>
                <a:spcPts val="0"/>
              </a:spcBef>
              <a:spcAft>
                <a:spcPts val="0"/>
              </a:spcAft>
              <a:defRPr sz="1000" b="0">
                <a:solidFill>
                  <a:srgbClr val="028090"/>
                </a:solidFill>
                <a:latin typeface="Arial"/>
              </a:defRPr>
            </a:pPr>
            <a:r>
              <a:t>Application-based</a:t>
            </a:r>
          </a:p>
        </p:txBody>
      </p:sp>
      <p:sp>
        <p:nvSpPr>
          <p:cNvPr id="35" name="TextBox 34"/>
          <p:cNvSpPr txBox="1"/>
          <p:nvPr/>
        </p:nvSpPr>
        <p:spPr>
          <a:xfrm>
            <a:off x="457200" y="4572000"/>
            <a:ext cx="3657600" cy="365760"/>
          </a:xfrm>
          <a:prstGeom prst="rect">
            <a:avLst/>
          </a:prstGeom>
          <a:noFill/>
        </p:spPr>
        <p:txBody>
          <a:bodyPr wrap="square">
            <a:spAutoFit/>
          </a:bodyPr>
          <a:lstStyle/>
          <a:p>
            <a:pPr algn="l">
              <a:spcBef>
                <a:spcPts val="0"/>
              </a:spcBef>
              <a:spcAft>
                <a:spcPts val="0"/>
              </a:spcAft>
              <a:defRPr sz="1400" b="1">
                <a:solidFill>
                  <a:srgbClr val="028090"/>
                </a:solidFill>
                <a:latin typeface="Arial"/>
              </a:defRPr>
            </a:pPr>
            <a:r>
              <a:t>INPUT</a:t>
            </a:r>
          </a:p>
        </p:txBody>
      </p:sp>
      <p:sp>
        <p:nvSpPr>
          <p:cNvPr id="36" name="TextBox 35"/>
          <p:cNvSpPr txBox="1"/>
          <p:nvPr/>
        </p:nvSpPr>
        <p:spPr>
          <a:xfrm>
            <a:off x="457200" y="4937760"/>
            <a:ext cx="4572000" cy="7315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Project owners and contractors</a:t>
            </a:r>
            <a:br/>
            <a:r>
              <a:t>On-boarding applications &amp; specifications</a:t>
            </a:r>
          </a:p>
        </p:txBody>
      </p:sp>
      <p:sp>
        <p:nvSpPr>
          <p:cNvPr id="37" name="TextBox 36"/>
          <p:cNvSpPr txBox="1"/>
          <p:nvPr/>
        </p:nvSpPr>
        <p:spPr>
          <a:xfrm>
            <a:off x="7315200" y="4572000"/>
            <a:ext cx="3657600" cy="365760"/>
          </a:xfrm>
          <a:prstGeom prst="rect">
            <a:avLst/>
          </a:prstGeom>
          <a:noFill/>
        </p:spPr>
        <p:txBody>
          <a:bodyPr wrap="square">
            <a:spAutoFit/>
          </a:bodyPr>
          <a:lstStyle/>
          <a:p>
            <a:pPr algn="l">
              <a:spcBef>
                <a:spcPts val="0"/>
              </a:spcBef>
              <a:spcAft>
                <a:spcPts val="0"/>
              </a:spcAft>
              <a:defRPr sz="1400" b="1">
                <a:solidFill>
                  <a:srgbClr val="028090"/>
                </a:solidFill>
                <a:latin typeface="Arial"/>
              </a:defRPr>
            </a:pPr>
            <a:r>
              <a:t>OUTPUT</a:t>
            </a:r>
          </a:p>
        </p:txBody>
      </p:sp>
      <p:sp>
        <p:nvSpPr>
          <p:cNvPr id="38" name="TextBox 37"/>
          <p:cNvSpPr txBox="1"/>
          <p:nvPr/>
        </p:nvSpPr>
        <p:spPr>
          <a:xfrm>
            <a:off x="7315200" y="4937760"/>
            <a:ext cx="4572000" cy="731520"/>
          </a:xfrm>
          <a:prstGeom prst="rect">
            <a:avLst/>
          </a:prstGeom>
          <a:noFill/>
        </p:spPr>
        <p:txBody>
          <a:bodyPr wrap="square">
            <a:spAutoFit/>
          </a:bodyPr>
          <a:lstStyle/>
          <a:p>
            <a:pPr algn="l">
              <a:spcBef>
                <a:spcPts val="0"/>
              </a:spcBef>
              <a:spcAft>
                <a:spcPts val="0"/>
              </a:spcAft>
              <a:defRPr sz="1200" b="0">
                <a:solidFill>
                  <a:srgbClr val="1E2761"/>
                </a:solidFill>
                <a:latin typeface="Arial"/>
              </a:defRPr>
            </a:pPr>
            <a:r>
              <a:t>RCA Concrete</a:t>
            </a:r>
            <a:br/>
            <a:r>
              <a:t>Application-based mix &amp; methodology</a:t>
            </a:r>
          </a:p>
        </p:txBody>
      </p:sp>
      <p:sp>
        <p:nvSpPr>
          <p:cNvPr id="39" name="Rectangle 38"/>
          <p:cNvSpPr/>
          <p:nvPr/>
        </p:nvSpPr>
        <p:spPr>
          <a:xfrm>
            <a:off x="3200400" y="5669280"/>
            <a:ext cx="5943600" cy="82296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83280" y="5806440"/>
            <a:ext cx="5486400" cy="548640"/>
          </a:xfrm>
          <a:prstGeom prst="rect">
            <a:avLst/>
          </a:prstGeom>
          <a:noFill/>
        </p:spPr>
        <p:txBody>
          <a:bodyPr wrap="square">
            <a:spAutoFit/>
          </a:bodyPr>
          <a:lstStyle/>
          <a:p>
            <a:pPr algn="ctr">
              <a:spcBef>
                <a:spcPts val="0"/>
              </a:spcBef>
              <a:spcAft>
                <a:spcPts val="0"/>
              </a:spcAft>
              <a:defRPr sz="1200" b="1">
                <a:solidFill>
                  <a:srgbClr val="FFFFFF"/>
                </a:solidFill>
                <a:latin typeface="Arial"/>
              </a:defRPr>
            </a:pPr>
            <a:r>
              <a:t>AI-driven digital platform manages the entire RCA value chain</a:t>
            </a:r>
            <a:br/>
            <a:r>
              <a:t>for access, costs and quality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About us</a:t>
            </a:r>
          </a:p>
        </p:txBody>
      </p:sp>
      <p:sp>
        <p:nvSpPr>
          <p:cNvPr id="4" name="TextBox 3"/>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Market demand</a:t>
            </a:r>
          </a:p>
        </p:txBody>
      </p:sp>
      <p:sp>
        <p:nvSpPr>
          <p:cNvPr id="5" name="TextBox 4"/>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Solution &amp; impact</a:t>
            </a:r>
          </a:p>
        </p:txBody>
      </p:sp>
      <p:sp>
        <p:nvSpPr>
          <p:cNvPr id="6" name="TextBox 5"/>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Team and advisors</a:t>
            </a:r>
          </a:p>
        </p:txBody>
      </p:sp>
      <p:sp>
        <p:nvSpPr>
          <p:cNvPr id="7" name="TextBox 6"/>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Contact us</a:t>
            </a:r>
          </a:p>
        </p:txBody>
      </p:sp>
      <p:sp>
        <p:nvSpPr>
          <p:cNvPr id="8" name="TextBox 7"/>
          <p:cNvSpPr txBox="1"/>
          <p:nvPr/>
        </p:nvSpPr>
        <p:spPr>
          <a:xfrm>
            <a:off x="457200" y="731520"/>
            <a:ext cx="10972800" cy="548640"/>
          </a:xfrm>
          <a:prstGeom prst="rect">
            <a:avLst/>
          </a:prstGeom>
          <a:noFill/>
        </p:spPr>
        <p:txBody>
          <a:bodyPr wrap="square">
            <a:spAutoFit/>
          </a:bodyPr>
          <a:lstStyle/>
          <a:p>
            <a:pPr algn="l">
              <a:spcBef>
                <a:spcPts val="0"/>
              </a:spcBef>
              <a:spcAft>
                <a:spcPts val="0"/>
              </a:spcAft>
              <a:defRPr sz="3200" b="1">
                <a:solidFill>
                  <a:srgbClr val="FFFFFF"/>
                </a:solidFill>
                <a:latin typeface="Arial"/>
              </a:defRPr>
            </a:pPr>
            <a:r>
              <a:t>Real-Life Impact</a:t>
            </a:r>
          </a:p>
        </p:txBody>
      </p:sp>
      <p:sp>
        <p:nvSpPr>
          <p:cNvPr id="9" name="Rectangle 8"/>
          <p:cNvSpPr/>
          <p:nvPr/>
        </p:nvSpPr>
        <p:spPr>
          <a:xfrm>
            <a:off x="457200" y="1645920"/>
            <a:ext cx="3657600" cy="219456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28800"/>
            <a:ext cx="3291840" cy="640080"/>
          </a:xfrm>
          <a:prstGeom prst="rect">
            <a:avLst/>
          </a:prstGeom>
          <a:noFill/>
        </p:spPr>
        <p:txBody>
          <a:bodyPr wrap="square">
            <a:spAutoFit/>
          </a:bodyPr>
          <a:lstStyle/>
          <a:p>
            <a:pPr algn="l">
              <a:spcBef>
                <a:spcPts val="0"/>
              </a:spcBef>
              <a:spcAft>
                <a:spcPts val="0"/>
              </a:spcAft>
              <a:defRPr sz="3600" b="1">
                <a:solidFill>
                  <a:srgbClr val="02C39A"/>
                </a:solidFill>
                <a:latin typeface="Arial"/>
              </a:defRPr>
            </a:pPr>
            <a:r>
              <a:t>25-30%</a:t>
            </a:r>
          </a:p>
        </p:txBody>
      </p:sp>
      <p:sp>
        <p:nvSpPr>
          <p:cNvPr id="11" name="TextBox 10"/>
          <p:cNvSpPr txBox="1"/>
          <p:nvPr/>
        </p:nvSpPr>
        <p:spPr>
          <a:xfrm>
            <a:off x="640080" y="2560320"/>
            <a:ext cx="3291840" cy="365760"/>
          </a:xfrm>
          <a:prstGeom prst="rect">
            <a:avLst/>
          </a:prstGeom>
          <a:noFill/>
        </p:spPr>
        <p:txBody>
          <a:bodyPr wrap="square">
            <a:spAutoFit/>
          </a:bodyPr>
          <a:lstStyle/>
          <a:p>
            <a:pPr algn="l">
              <a:spcBef>
                <a:spcPts val="0"/>
              </a:spcBef>
              <a:spcAft>
                <a:spcPts val="0"/>
              </a:spcAft>
              <a:defRPr sz="1600" b="1">
                <a:solidFill>
                  <a:srgbClr val="FFFFFF"/>
                </a:solidFill>
                <a:latin typeface="Arial"/>
              </a:defRPr>
            </a:pPr>
            <a:r>
              <a:t>Waste Reduction</a:t>
            </a:r>
          </a:p>
        </p:txBody>
      </p:sp>
      <p:sp>
        <p:nvSpPr>
          <p:cNvPr id="12" name="TextBox 11"/>
          <p:cNvSpPr txBox="1"/>
          <p:nvPr/>
        </p:nvSpPr>
        <p:spPr>
          <a:xfrm>
            <a:off x="640080" y="3017520"/>
            <a:ext cx="3291840" cy="731520"/>
          </a:xfrm>
          <a:prstGeom prst="rect">
            <a:avLst/>
          </a:prstGeom>
          <a:noFill/>
        </p:spPr>
        <p:txBody>
          <a:bodyPr wrap="square">
            <a:spAutoFit/>
          </a:bodyPr>
          <a:lstStyle/>
          <a:p>
            <a:pPr algn="l">
              <a:spcBef>
                <a:spcPts val="0"/>
              </a:spcBef>
              <a:spcAft>
                <a:spcPts val="0"/>
              </a:spcAft>
              <a:defRPr sz="1100" b="0">
                <a:solidFill>
                  <a:srgbClr val="CADCFC"/>
                </a:solidFill>
                <a:latin typeface="Arial"/>
              </a:defRPr>
            </a:pPr>
            <a:r>
              <a:t>Real-life on-site circular economy solution</a:t>
            </a:r>
          </a:p>
        </p:txBody>
      </p:sp>
      <p:sp>
        <p:nvSpPr>
          <p:cNvPr id="13" name="Rectangle 12"/>
          <p:cNvSpPr/>
          <p:nvPr/>
        </p:nvSpPr>
        <p:spPr>
          <a:xfrm>
            <a:off x="4297680" y="1645920"/>
            <a:ext cx="3657600" cy="219456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828800"/>
            <a:ext cx="3291840" cy="640080"/>
          </a:xfrm>
          <a:prstGeom prst="rect">
            <a:avLst/>
          </a:prstGeom>
          <a:noFill/>
        </p:spPr>
        <p:txBody>
          <a:bodyPr wrap="square">
            <a:spAutoFit/>
          </a:bodyPr>
          <a:lstStyle/>
          <a:p>
            <a:pPr algn="l">
              <a:spcBef>
                <a:spcPts val="0"/>
              </a:spcBef>
              <a:spcAft>
                <a:spcPts val="0"/>
              </a:spcAft>
              <a:defRPr sz="3600" b="1">
                <a:solidFill>
                  <a:srgbClr val="02C39A"/>
                </a:solidFill>
                <a:latin typeface="Arial"/>
              </a:defRPr>
            </a:pPr>
            <a:r>
              <a:t>40%</a:t>
            </a:r>
          </a:p>
        </p:txBody>
      </p:sp>
      <p:sp>
        <p:nvSpPr>
          <p:cNvPr id="15" name="TextBox 14"/>
          <p:cNvSpPr txBox="1"/>
          <p:nvPr/>
        </p:nvSpPr>
        <p:spPr>
          <a:xfrm>
            <a:off x="4480560" y="2560320"/>
            <a:ext cx="3291840" cy="365760"/>
          </a:xfrm>
          <a:prstGeom prst="rect">
            <a:avLst/>
          </a:prstGeom>
          <a:noFill/>
        </p:spPr>
        <p:txBody>
          <a:bodyPr wrap="square">
            <a:spAutoFit/>
          </a:bodyPr>
          <a:lstStyle/>
          <a:p>
            <a:pPr algn="l">
              <a:spcBef>
                <a:spcPts val="0"/>
              </a:spcBef>
              <a:spcAft>
                <a:spcPts val="0"/>
              </a:spcAft>
              <a:defRPr sz="1600" b="1">
                <a:solidFill>
                  <a:srgbClr val="FFFFFF"/>
                </a:solidFill>
                <a:latin typeface="Arial"/>
              </a:defRPr>
            </a:pPr>
            <a:r>
              <a:t>CO2 Reduction</a:t>
            </a:r>
          </a:p>
        </p:txBody>
      </p:sp>
      <p:sp>
        <p:nvSpPr>
          <p:cNvPr id="16" name="TextBox 15"/>
          <p:cNvSpPr txBox="1"/>
          <p:nvPr/>
        </p:nvSpPr>
        <p:spPr>
          <a:xfrm>
            <a:off x="4480560" y="3017520"/>
            <a:ext cx="3291840" cy="731520"/>
          </a:xfrm>
          <a:prstGeom prst="rect">
            <a:avLst/>
          </a:prstGeom>
          <a:noFill/>
        </p:spPr>
        <p:txBody>
          <a:bodyPr wrap="square">
            <a:spAutoFit/>
          </a:bodyPr>
          <a:lstStyle/>
          <a:p>
            <a:pPr algn="l">
              <a:spcBef>
                <a:spcPts val="0"/>
              </a:spcBef>
              <a:spcAft>
                <a:spcPts val="0"/>
              </a:spcAft>
              <a:defRPr sz="1100" b="0">
                <a:solidFill>
                  <a:srgbClr val="CADCFC"/>
                </a:solidFill>
                <a:latin typeface="Arial"/>
              </a:defRPr>
            </a:pPr>
            <a:r>
              <a:t>Less cement needed, additives tie in more CO2</a:t>
            </a:r>
          </a:p>
        </p:txBody>
      </p:sp>
      <p:sp>
        <p:nvSpPr>
          <p:cNvPr id="17" name="Rectangle 16"/>
          <p:cNvSpPr/>
          <p:nvPr/>
        </p:nvSpPr>
        <p:spPr>
          <a:xfrm>
            <a:off x="8138160" y="1645920"/>
            <a:ext cx="3657600" cy="219456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828800"/>
            <a:ext cx="3291840" cy="640080"/>
          </a:xfrm>
          <a:prstGeom prst="rect">
            <a:avLst/>
          </a:prstGeom>
          <a:noFill/>
        </p:spPr>
        <p:txBody>
          <a:bodyPr wrap="square">
            <a:spAutoFit/>
          </a:bodyPr>
          <a:lstStyle/>
          <a:p>
            <a:pPr algn="l">
              <a:spcBef>
                <a:spcPts val="0"/>
              </a:spcBef>
              <a:spcAft>
                <a:spcPts val="0"/>
              </a:spcAft>
              <a:defRPr sz="3600" b="1">
                <a:solidFill>
                  <a:srgbClr val="02C39A"/>
                </a:solidFill>
                <a:latin typeface="Arial"/>
              </a:defRPr>
            </a:pPr>
            <a:r>
              <a:t>0.1t</a:t>
            </a:r>
          </a:p>
        </p:txBody>
      </p:sp>
      <p:sp>
        <p:nvSpPr>
          <p:cNvPr id="19" name="TextBox 18"/>
          <p:cNvSpPr txBox="1"/>
          <p:nvPr/>
        </p:nvSpPr>
        <p:spPr>
          <a:xfrm>
            <a:off x="8321040" y="2560320"/>
            <a:ext cx="3291840" cy="365760"/>
          </a:xfrm>
          <a:prstGeom prst="rect">
            <a:avLst/>
          </a:prstGeom>
          <a:noFill/>
        </p:spPr>
        <p:txBody>
          <a:bodyPr wrap="square">
            <a:spAutoFit/>
          </a:bodyPr>
          <a:lstStyle/>
          <a:p>
            <a:pPr algn="l">
              <a:spcBef>
                <a:spcPts val="0"/>
              </a:spcBef>
              <a:spcAft>
                <a:spcPts val="0"/>
              </a:spcAft>
              <a:defRPr sz="1600" b="1">
                <a:solidFill>
                  <a:srgbClr val="FFFFFF"/>
                </a:solidFill>
                <a:latin typeface="Arial"/>
              </a:defRPr>
            </a:pPr>
            <a:r>
              <a:t>Carbon Savings</a:t>
            </a:r>
          </a:p>
        </p:txBody>
      </p:sp>
      <p:sp>
        <p:nvSpPr>
          <p:cNvPr id="20" name="TextBox 19"/>
          <p:cNvSpPr txBox="1"/>
          <p:nvPr/>
        </p:nvSpPr>
        <p:spPr>
          <a:xfrm>
            <a:off x="8321040" y="3017520"/>
            <a:ext cx="3291840" cy="731520"/>
          </a:xfrm>
          <a:prstGeom prst="rect">
            <a:avLst/>
          </a:prstGeom>
          <a:noFill/>
        </p:spPr>
        <p:txBody>
          <a:bodyPr wrap="square">
            <a:spAutoFit/>
          </a:bodyPr>
          <a:lstStyle/>
          <a:p>
            <a:pPr algn="l">
              <a:spcBef>
                <a:spcPts val="0"/>
              </a:spcBef>
              <a:spcAft>
                <a:spcPts val="0"/>
              </a:spcAft>
              <a:defRPr sz="1100" b="0">
                <a:solidFill>
                  <a:srgbClr val="CADCFC"/>
                </a:solidFill>
                <a:latin typeface="Arial"/>
              </a:defRPr>
            </a:pPr>
            <a:r>
              <a:t>Per 1m³ of concrete – turning CO2 into profits</a:t>
            </a:r>
          </a:p>
        </p:txBody>
      </p:sp>
      <p:sp>
        <p:nvSpPr>
          <p:cNvPr id="21" name="Rectangle 20"/>
          <p:cNvSpPr/>
          <p:nvPr/>
        </p:nvSpPr>
        <p:spPr>
          <a:xfrm>
            <a:off x="457200" y="4114800"/>
            <a:ext cx="3657600" cy="219456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297680"/>
            <a:ext cx="3291840" cy="640080"/>
          </a:xfrm>
          <a:prstGeom prst="rect">
            <a:avLst/>
          </a:prstGeom>
          <a:noFill/>
        </p:spPr>
        <p:txBody>
          <a:bodyPr wrap="square">
            <a:spAutoFit/>
          </a:bodyPr>
          <a:lstStyle/>
          <a:p>
            <a:pPr algn="l">
              <a:spcBef>
                <a:spcPts val="0"/>
              </a:spcBef>
              <a:spcAft>
                <a:spcPts val="0"/>
              </a:spcAft>
              <a:defRPr sz="3600" b="1">
                <a:solidFill>
                  <a:srgbClr val="02C39A"/>
                </a:solidFill>
                <a:latin typeface="Arial"/>
              </a:defRPr>
            </a:pPr>
            <a:r>
              <a:t>Controlled</a:t>
            </a:r>
          </a:p>
        </p:txBody>
      </p:sp>
      <p:sp>
        <p:nvSpPr>
          <p:cNvPr id="23" name="TextBox 22"/>
          <p:cNvSpPr txBox="1"/>
          <p:nvPr/>
        </p:nvSpPr>
        <p:spPr>
          <a:xfrm>
            <a:off x="640080" y="5029200"/>
            <a:ext cx="3291840" cy="365760"/>
          </a:xfrm>
          <a:prstGeom prst="rect">
            <a:avLst/>
          </a:prstGeom>
          <a:noFill/>
        </p:spPr>
        <p:txBody>
          <a:bodyPr wrap="square">
            <a:spAutoFit/>
          </a:bodyPr>
          <a:lstStyle/>
          <a:p>
            <a:pPr algn="l">
              <a:spcBef>
                <a:spcPts val="0"/>
              </a:spcBef>
              <a:spcAft>
                <a:spcPts val="0"/>
              </a:spcAft>
              <a:defRPr sz="1600" b="1">
                <a:solidFill>
                  <a:srgbClr val="FFFFFF"/>
                </a:solidFill>
                <a:latin typeface="Arial"/>
              </a:defRPr>
            </a:pPr>
            <a:r>
              <a:t>RCA Value Chain</a:t>
            </a:r>
          </a:p>
        </p:txBody>
      </p:sp>
      <p:sp>
        <p:nvSpPr>
          <p:cNvPr id="24" name="TextBox 23"/>
          <p:cNvSpPr txBox="1"/>
          <p:nvPr/>
        </p:nvSpPr>
        <p:spPr>
          <a:xfrm>
            <a:off x="640080" y="5486400"/>
            <a:ext cx="3291840" cy="731520"/>
          </a:xfrm>
          <a:prstGeom prst="rect">
            <a:avLst/>
          </a:prstGeom>
          <a:noFill/>
        </p:spPr>
        <p:txBody>
          <a:bodyPr wrap="square">
            <a:spAutoFit/>
          </a:bodyPr>
          <a:lstStyle/>
          <a:p>
            <a:pPr algn="l">
              <a:spcBef>
                <a:spcPts val="0"/>
              </a:spcBef>
              <a:spcAft>
                <a:spcPts val="0"/>
              </a:spcAft>
              <a:defRPr sz="1100" b="0">
                <a:solidFill>
                  <a:srgbClr val="CADCFC"/>
                </a:solidFill>
                <a:latin typeface="Arial"/>
              </a:defRPr>
            </a:pPr>
            <a:r>
              <a:t>Controlled auditive base CDW concrete</a:t>
            </a:r>
          </a:p>
        </p:txBody>
      </p:sp>
      <p:sp>
        <p:nvSpPr>
          <p:cNvPr id="25" name="Rectangle 24"/>
          <p:cNvSpPr/>
          <p:nvPr/>
        </p:nvSpPr>
        <p:spPr>
          <a:xfrm>
            <a:off x="4297680" y="4114800"/>
            <a:ext cx="3657600" cy="219456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4297680"/>
            <a:ext cx="3291840" cy="640080"/>
          </a:xfrm>
          <a:prstGeom prst="rect">
            <a:avLst/>
          </a:prstGeom>
          <a:noFill/>
        </p:spPr>
        <p:txBody>
          <a:bodyPr wrap="square">
            <a:spAutoFit/>
          </a:bodyPr>
          <a:lstStyle/>
          <a:p>
            <a:pPr algn="l">
              <a:spcBef>
                <a:spcPts val="0"/>
              </a:spcBef>
              <a:spcAft>
                <a:spcPts val="0"/>
              </a:spcAft>
              <a:defRPr sz="3600" b="1">
                <a:solidFill>
                  <a:srgbClr val="02C39A"/>
                </a:solidFill>
                <a:latin typeface="Arial"/>
              </a:defRPr>
            </a:pPr>
            <a:r>
              <a:t>Significant</a:t>
            </a:r>
          </a:p>
        </p:txBody>
      </p:sp>
      <p:sp>
        <p:nvSpPr>
          <p:cNvPr id="27" name="TextBox 26"/>
          <p:cNvSpPr txBox="1"/>
          <p:nvPr/>
        </p:nvSpPr>
        <p:spPr>
          <a:xfrm>
            <a:off x="4480560" y="5029200"/>
            <a:ext cx="3291840" cy="365760"/>
          </a:xfrm>
          <a:prstGeom prst="rect">
            <a:avLst/>
          </a:prstGeom>
          <a:noFill/>
        </p:spPr>
        <p:txBody>
          <a:bodyPr wrap="square">
            <a:spAutoFit/>
          </a:bodyPr>
          <a:lstStyle/>
          <a:p>
            <a:pPr algn="l">
              <a:spcBef>
                <a:spcPts val="0"/>
              </a:spcBef>
              <a:spcAft>
                <a:spcPts val="0"/>
              </a:spcAft>
              <a:defRPr sz="1600" b="1">
                <a:solidFill>
                  <a:srgbClr val="FFFFFF"/>
                </a:solidFill>
                <a:latin typeface="Arial"/>
              </a:defRPr>
            </a:pPr>
            <a:r>
              <a:t>Time Savings</a:t>
            </a:r>
          </a:p>
        </p:txBody>
      </p:sp>
      <p:sp>
        <p:nvSpPr>
          <p:cNvPr id="28" name="TextBox 27"/>
          <p:cNvSpPr txBox="1"/>
          <p:nvPr/>
        </p:nvSpPr>
        <p:spPr>
          <a:xfrm>
            <a:off x="4480560" y="5486400"/>
            <a:ext cx="3291840" cy="731520"/>
          </a:xfrm>
          <a:prstGeom prst="rect">
            <a:avLst/>
          </a:prstGeom>
          <a:noFill/>
        </p:spPr>
        <p:txBody>
          <a:bodyPr wrap="square">
            <a:spAutoFit/>
          </a:bodyPr>
          <a:lstStyle/>
          <a:p>
            <a:pPr algn="l">
              <a:spcBef>
                <a:spcPts val="0"/>
              </a:spcBef>
              <a:spcAft>
                <a:spcPts val="0"/>
              </a:spcAft>
              <a:defRPr sz="1100" b="0">
                <a:solidFill>
                  <a:srgbClr val="CADCFC"/>
                </a:solidFill>
                <a:latin typeface="Arial"/>
              </a:defRPr>
            </a:pPr>
            <a:r>
              <a:t>On-site production reduces logistical burden</a:t>
            </a:r>
          </a:p>
        </p:txBody>
      </p:sp>
      <p:sp>
        <p:nvSpPr>
          <p:cNvPr id="29" name="Rectangle 28"/>
          <p:cNvSpPr/>
          <p:nvPr/>
        </p:nvSpPr>
        <p:spPr>
          <a:xfrm>
            <a:off x="8138160" y="4114800"/>
            <a:ext cx="3657600" cy="2194560"/>
          </a:xfrm>
          <a:prstGeom prst="rect">
            <a:avLst/>
          </a:prstGeom>
          <a:solidFill>
            <a:srgbClr val="2A3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4297680"/>
            <a:ext cx="3291840" cy="640080"/>
          </a:xfrm>
          <a:prstGeom prst="rect">
            <a:avLst/>
          </a:prstGeom>
          <a:noFill/>
        </p:spPr>
        <p:txBody>
          <a:bodyPr wrap="square">
            <a:spAutoFit/>
          </a:bodyPr>
          <a:lstStyle/>
          <a:p>
            <a:pPr algn="l">
              <a:spcBef>
                <a:spcPts val="0"/>
              </a:spcBef>
              <a:spcAft>
                <a:spcPts val="0"/>
              </a:spcAft>
              <a:defRPr sz="3600" b="1">
                <a:solidFill>
                  <a:srgbClr val="02C39A"/>
                </a:solidFill>
                <a:latin typeface="Arial"/>
              </a:defRPr>
            </a:pPr>
            <a:r>
              <a:t>Tangible</a:t>
            </a:r>
          </a:p>
        </p:txBody>
      </p:sp>
      <p:sp>
        <p:nvSpPr>
          <p:cNvPr id="31" name="TextBox 30"/>
          <p:cNvSpPr txBox="1"/>
          <p:nvPr/>
        </p:nvSpPr>
        <p:spPr>
          <a:xfrm>
            <a:off x="8321040" y="5029200"/>
            <a:ext cx="3291840" cy="365760"/>
          </a:xfrm>
          <a:prstGeom prst="rect">
            <a:avLst/>
          </a:prstGeom>
          <a:noFill/>
        </p:spPr>
        <p:txBody>
          <a:bodyPr wrap="square">
            <a:spAutoFit/>
          </a:bodyPr>
          <a:lstStyle/>
          <a:p>
            <a:pPr algn="l">
              <a:spcBef>
                <a:spcPts val="0"/>
              </a:spcBef>
              <a:spcAft>
                <a:spcPts val="0"/>
              </a:spcAft>
              <a:defRPr sz="1600" b="1">
                <a:solidFill>
                  <a:srgbClr val="FFFFFF"/>
                </a:solidFill>
                <a:latin typeface="Arial"/>
              </a:defRPr>
            </a:pPr>
            <a:r>
              <a:t>Cost Savings</a:t>
            </a:r>
          </a:p>
        </p:txBody>
      </p:sp>
      <p:sp>
        <p:nvSpPr>
          <p:cNvPr id="32" name="TextBox 31"/>
          <p:cNvSpPr txBox="1"/>
          <p:nvPr/>
        </p:nvSpPr>
        <p:spPr>
          <a:xfrm>
            <a:off x="8321040" y="5486400"/>
            <a:ext cx="3291840" cy="731520"/>
          </a:xfrm>
          <a:prstGeom prst="rect">
            <a:avLst/>
          </a:prstGeom>
          <a:noFill/>
        </p:spPr>
        <p:txBody>
          <a:bodyPr wrap="square">
            <a:spAutoFit/>
          </a:bodyPr>
          <a:lstStyle/>
          <a:p>
            <a:pPr algn="l">
              <a:spcBef>
                <a:spcPts val="0"/>
              </a:spcBef>
              <a:spcAft>
                <a:spcPts val="0"/>
              </a:spcAft>
              <a:defRPr sz="1100" b="0">
                <a:solidFill>
                  <a:srgbClr val="CADCFC"/>
                </a:solidFill>
                <a:latin typeface="Arial"/>
              </a:defRPr>
            </a:pPr>
            <a:r>
              <a:t>Raw materials, logistics, waste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About us</a:t>
            </a:r>
          </a:p>
        </p:txBody>
      </p:sp>
      <p:sp>
        <p:nvSpPr>
          <p:cNvPr id="5" name="TextBox 4"/>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Market demand</a:t>
            </a:r>
          </a:p>
        </p:txBody>
      </p:sp>
      <p:sp>
        <p:nvSpPr>
          <p:cNvPr id="6" name="TextBox 5"/>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Solution &amp; impact</a:t>
            </a:r>
          </a:p>
        </p:txBody>
      </p:sp>
      <p:sp>
        <p:nvSpPr>
          <p:cNvPr id="7" name="TextBox 6"/>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Team and advisors</a:t>
            </a:r>
          </a:p>
        </p:txBody>
      </p:sp>
      <p:sp>
        <p:nvSpPr>
          <p:cNvPr id="8" name="TextBox 7"/>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Contact us</a:t>
            </a:r>
          </a:p>
        </p:txBody>
      </p:sp>
      <p:sp>
        <p:nvSpPr>
          <p:cNvPr id="9" name="TextBox 8"/>
          <p:cNvSpPr txBox="1"/>
          <p:nvPr/>
        </p:nvSpPr>
        <p:spPr>
          <a:xfrm>
            <a:off x="457200" y="548640"/>
            <a:ext cx="5486400" cy="457200"/>
          </a:xfrm>
          <a:prstGeom prst="rect">
            <a:avLst/>
          </a:prstGeom>
          <a:noFill/>
        </p:spPr>
        <p:txBody>
          <a:bodyPr wrap="square">
            <a:spAutoFit/>
          </a:bodyPr>
          <a:lstStyle/>
          <a:p>
            <a:pPr algn="l">
              <a:spcBef>
                <a:spcPts val="0"/>
              </a:spcBef>
              <a:spcAft>
                <a:spcPts val="0"/>
              </a:spcAft>
              <a:defRPr sz="2400" b="1">
                <a:solidFill>
                  <a:srgbClr val="FFFFFF"/>
                </a:solidFill>
                <a:latin typeface="Arial"/>
              </a:defRPr>
            </a:pPr>
            <a:r>
              <a:t>Team and Advisors</a:t>
            </a:r>
          </a:p>
        </p:txBody>
      </p:sp>
      <p:sp>
        <p:nvSpPr>
          <p:cNvPr id="10" name="TextBox 9"/>
          <p:cNvSpPr txBox="1"/>
          <p:nvPr/>
        </p:nvSpPr>
        <p:spPr>
          <a:xfrm>
            <a:off x="457200" y="1280160"/>
            <a:ext cx="10972800" cy="640080"/>
          </a:xfrm>
          <a:prstGeom prst="rect">
            <a:avLst/>
          </a:prstGeom>
          <a:noFill/>
        </p:spPr>
        <p:txBody>
          <a:bodyPr wrap="square">
            <a:spAutoFit/>
          </a:bodyPr>
          <a:lstStyle/>
          <a:p>
            <a:pPr algn="l">
              <a:spcBef>
                <a:spcPts val="0"/>
              </a:spcBef>
              <a:spcAft>
                <a:spcPts val="0"/>
              </a:spcAft>
              <a:defRPr sz="1300" b="0">
                <a:solidFill>
                  <a:srgbClr val="1E2761"/>
                </a:solidFill>
                <a:latin typeface="Arial"/>
              </a:defRPr>
            </a:pPr>
            <a:r>
              <a:t>CFT has an exceptional team consisting of sustainable business professionals with complementary capabilities. Our market access is built on relationships, established support, operational partners, and financing expertise.</a:t>
            </a:r>
          </a:p>
        </p:txBody>
      </p:sp>
      <p:sp>
        <p:nvSpPr>
          <p:cNvPr id="11" name="TextBox 10"/>
          <p:cNvSpPr txBox="1"/>
          <p:nvPr/>
        </p:nvSpPr>
        <p:spPr>
          <a:xfrm>
            <a:off x="457200" y="2011680"/>
            <a:ext cx="3657600" cy="365760"/>
          </a:xfrm>
          <a:prstGeom prst="rect">
            <a:avLst/>
          </a:prstGeom>
          <a:noFill/>
        </p:spPr>
        <p:txBody>
          <a:bodyPr wrap="square">
            <a:spAutoFit/>
          </a:bodyPr>
          <a:lstStyle/>
          <a:p>
            <a:pPr algn="l">
              <a:spcBef>
                <a:spcPts val="0"/>
              </a:spcBef>
              <a:spcAft>
                <a:spcPts val="0"/>
              </a:spcAft>
              <a:defRPr sz="1800" b="1">
                <a:solidFill>
                  <a:srgbClr val="028090"/>
                </a:solidFill>
                <a:latin typeface="Arial"/>
              </a:defRPr>
            </a:pPr>
            <a:r>
              <a:t>Core Team</a:t>
            </a:r>
          </a:p>
        </p:txBody>
      </p:sp>
      <p:sp>
        <p:nvSpPr>
          <p:cNvPr id="12" name="Oval 11"/>
          <p:cNvSpPr/>
          <p:nvPr/>
        </p:nvSpPr>
        <p:spPr>
          <a:xfrm>
            <a:off x="914400" y="2468880"/>
            <a:ext cx="914400" cy="91440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74720"/>
            <a:ext cx="1828800" cy="365760"/>
          </a:xfrm>
          <a:prstGeom prst="rect">
            <a:avLst/>
          </a:prstGeom>
          <a:noFill/>
        </p:spPr>
        <p:txBody>
          <a:bodyPr wrap="square">
            <a:spAutoFit/>
          </a:bodyPr>
          <a:lstStyle/>
          <a:p>
            <a:pPr algn="ctr">
              <a:spcBef>
                <a:spcPts val="0"/>
              </a:spcBef>
              <a:spcAft>
                <a:spcPts val="0"/>
              </a:spcAft>
              <a:defRPr sz="1100" b="1">
                <a:solidFill>
                  <a:srgbClr val="1E2761"/>
                </a:solidFill>
                <a:latin typeface="Arial"/>
              </a:defRPr>
            </a:pPr>
            <a:r>
              <a:t>Jukka Mäkelä</a:t>
            </a:r>
          </a:p>
        </p:txBody>
      </p:sp>
      <p:sp>
        <p:nvSpPr>
          <p:cNvPr id="14" name="Oval 13"/>
          <p:cNvSpPr/>
          <p:nvPr/>
        </p:nvSpPr>
        <p:spPr>
          <a:xfrm>
            <a:off x="3200400" y="2468880"/>
            <a:ext cx="914400" cy="91440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3474720"/>
            <a:ext cx="1828800" cy="365760"/>
          </a:xfrm>
          <a:prstGeom prst="rect">
            <a:avLst/>
          </a:prstGeom>
          <a:noFill/>
        </p:spPr>
        <p:txBody>
          <a:bodyPr wrap="square">
            <a:spAutoFit/>
          </a:bodyPr>
          <a:lstStyle/>
          <a:p>
            <a:pPr algn="ctr">
              <a:spcBef>
                <a:spcPts val="0"/>
              </a:spcBef>
              <a:spcAft>
                <a:spcPts val="0"/>
              </a:spcAft>
              <a:defRPr sz="1100" b="1">
                <a:solidFill>
                  <a:srgbClr val="1E2761"/>
                </a:solidFill>
                <a:latin typeface="Arial"/>
              </a:defRPr>
            </a:pPr>
            <a:r>
              <a:t>Jarkko Hämäläinen</a:t>
            </a:r>
          </a:p>
        </p:txBody>
      </p:sp>
      <p:sp>
        <p:nvSpPr>
          <p:cNvPr id="16" name="Oval 15"/>
          <p:cNvSpPr/>
          <p:nvPr/>
        </p:nvSpPr>
        <p:spPr>
          <a:xfrm>
            <a:off x="5486400" y="2468880"/>
            <a:ext cx="914400" cy="91440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3474720"/>
            <a:ext cx="1828800" cy="365760"/>
          </a:xfrm>
          <a:prstGeom prst="rect">
            <a:avLst/>
          </a:prstGeom>
          <a:noFill/>
        </p:spPr>
        <p:txBody>
          <a:bodyPr wrap="square">
            <a:spAutoFit/>
          </a:bodyPr>
          <a:lstStyle/>
          <a:p>
            <a:pPr algn="ctr">
              <a:spcBef>
                <a:spcPts val="0"/>
              </a:spcBef>
              <a:spcAft>
                <a:spcPts val="0"/>
              </a:spcAft>
              <a:defRPr sz="1100" b="1">
                <a:solidFill>
                  <a:srgbClr val="1E2761"/>
                </a:solidFill>
                <a:latin typeface="Arial"/>
              </a:defRPr>
            </a:pPr>
            <a:r>
              <a:t>Pekka Mairinoja</a:t>
            </a:r>
          </a:p>
        </p:txBody>
      </p:sp>
      <p:sp>
        <p:nvSpPr>
          <p:cNvPr id="18" name="Oval 17"/>
          <p:cNvSpPr/>
          <p:nvPr/>
        </p:nvSpPr>
        <p:spPr>
          <a:xfrm>
            <a:off x="7772400" y="2468880"/>
            <a:ext cx="914400" cy="91440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3474720"/>
            <a:ext cx="1828800" cy="365760"/>
          </a:xfrm>
          <a:prstGeom prst="rect">
            <a:avLst/>
          </a:prstGeom>
          <a:noFill/>
        </p:spPr>
        <p:txBody>
          <a:bodyPr wrap="square">
            <a:spAutoFit/>
          </a:bodyPr>
          <a:lstStyle/>
          <a:p>
            <a:pPr algn="ctr">
              <a:spcBef>
                <a:spcPts val="0"/>
              </a:spcBef>
              <a:spcAft>
                <a:spcPts val="0"/>
              </a:spcAft>
              <a:defRPr sz="1100" b="1">
                <a:solidFill>
                  <a:srgbClr val="1E2761"/>
                </a:solidFill>
                <a:latin typeface="Arial"/>
              </a:defRPr>
            </a:pPr>
            <a:r>
              <a:t>Sami Niku-Paavo</a:t>
            </a:r>
          </a:p>
        </p:txBody>
      </p:sp>
      <p:sp>
        <p:nvSpPr>
          <p:cNvPr id="20" name="Oval 19"/>
          <p:cNvSpPr/>
          <p:nvPr/>
        </p:nvSpPr>
        <p:spPr>
          <a:xfrm>
            <a:off x="10058400" y="2468880"/>
            <a:ext cx="914400" cy="914400"/>
          </a:xfrm>
          <a:prstGeom prst="ellipse">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0" y="3474720"/>
            <a:ext cx="1828800" cy="365760"/>
          </a:xfrm>
          <a:prstGeom prst="rect">
            <a:avLst/>
          </a:prstGeom>
          <a:noFill/>
        </p:spPr>
        <p:txBody>
          <a:bodyPr wrap="square">
            <a:spAutoFit/>
          </a:bodyPr>
          <a:lstStyle/>
          <a:p>
            <a:pPr algn="ctr">
              <a:spcBef>
                <a:spcPts val="0"/>
              </a:spcBef>
              <a:spcAft>
                <a:spcPts val="0"/>
              </a:spcAft>
              <a:defRPr sz="1100" b="1">
                <a:solidFill>
                  <a:srgbClr val="1E2761"/>
                </a:solidFill>
                <a:latin typeface="Arial"/>
              </a:defRPr>
            </a:pPr>
            <a:r>
              <a:t>Teppo Rauhala</a:t>
            </a:r>
          </a:p>
        </p:txBody>
      </p:sp>
      <p:sp>
        <p:nvSpPr>
          <p:cNvPr id="22" name="TextBox 21"/>
          <p:cNvSpPr txBox="1"/>
          <p:nvPr/>
        </p:nvSpPr>
        <p:spPr>
          <a:xfrm>
            <a:off x="457200" y="4114800"/>
            <a:ext cx="3657600" cy="365760"/>
          </a:xfrm>
          <a:prstGeom prst="rect">
            <a:avLst/>
          </a:prstGeom>
          <a:noFill/>
        </p:spPr>
        <p:txBody>
          <a:bodyPr wrap="square">
            <a:spAutoFit/>
          </a:bodyPr>
          <a:lstStyle/>
          <a:p>
            <a:pPr algn="l">
              <a:spcBef>
                <a:spcPts val="0"/>
              </a:spcBef>
              <a:spcAft>
                <a:spcPts val="0"/>
              </a:spcAft>
              <a:defRPr sz="1800" b="1">
                <a:solidFill>
                  <a:srgbClr val="028090"/>
                </a:solidFill>
                <a:latin typeface="Arial"/>
              </a:defRPr>
            </a:pPr>
            <a:r>
              <a:t>Senior Advisors</a:t>
            </a:r>
          </a:p>
        </p:txBody>
      </p:sp>
      <p:sp>
        <p:nvSpPr>
          <p:cNvPr id="23" name="Oval 22"/>
          <p:cNvSpPr/>
          <p:nvPr/>
        </p:nvSpPr>
        <p:spPr>
          <a:xfrm>
            <a:off x="457200" y="457200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70916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Laird Cagan</a:t>
            </a:r>
          </a:p>
        </p:txBody>
      </p:sp>
      <p:sp>
        <p:nvSpPr>
          <p:cNvPr id="25" name="Oval 24"/>
          <p:cNvSpPr/>
          <p:nvPr/>
        </p:nvSpPr>
        <p:spPr>
          <a:xfrm>
            <a:off x="3383280" y="457200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69080" y="470916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Aitua Ekhaese</a:t>
            </a:r>
          </a:p>
        </p:txBody>
      </p:sp>
      <p:sp>
        <p:nvSpPr>
          <p:cNvPr id="27" name="Oval 26"/>
          <p:cNvSpPr/>
          <p:nvPr/>
        </p:nvSpPr>
        <p:spPr>
          <a:xfrm>
            <a:off x="6309360" y="457200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470916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Anthony Rampensaud</a:t>
            </a:r>
          </a:p>
        </p:txBody>
      </p:sp>
      <p:sp>
        <p:nvSpPr>
          <p:cNvPr id="29" name="Oval 28"/>
          <p:cNvSpPr/>
          <p:nvPr/>
        </p:nvSpPr>
        <p:spPr>
          <a:xfrm>
            <a:off x="9235440" y="457200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21240" y="470916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Rauno Heikkilä</a:t>
            </a:r>
          </a:p>
        </p:txBody>
      </p:sp>
      <p:sp>
        <p:nvSpPr>
          <p:cNvPr id="31" name="Oval 30"/>
          <p:cNvSpPr/>
          <p:nvPr/>
        </p:nvSpPr>
        <p:spPr>
          <a:xfrm>
            <a:off x="457200" y="557784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571500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Kari-Pekka Laaksonen</a:t>
            </a:r>
          </a:p>
        </p:txBody>
      </p:sp>
      <p:sp>
        <p:nvSpPr>
          <p:cNvPr id="33" name="Oval 32"/>
          <p:cNvSpPr/>
          <p:nvPr/>
        </p:nvSpPr>
        <p:spPr>
          <a:xfrm>
            <a:off x="3383280" y="557784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69080" y="571500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Juuso Manninen</a:t>
            </a:r>
          </a:p>
        </p:txBody>
      </p:sp>
      <p:sp>
        <p:nvSpPr>
          <p:cNvPr id="35" name="Oval 34"/>
          <p:cNvSpPr/>
          <p:nvPr/>
        </p:nvSpPr>
        <p:spPr>
          <a:xfrm>
            <a:off x="6309360" y="557784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60" y="571500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Kyle Douglas</a:t>
            </a:r>
          </a:p>
        </p:txBody>
      </p:sp>
      <p:sp>
        <p:nvSpPr>
          <p:cNvPr id="37" name="Oval 36"/>
          <p:cNvSpPr/>
          <p:nvPr/>
        </p:nvSpPr>
        <p:spPr>
          <a:xfrm>
            <a:off x="9235440" y="5577840"/>
            <a:ext cx="548640" cy="548640"/>
          </a:xfrm>
          <a:prstGeom prst="ellipse">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21240" y="5715000"/>
            <a:ext cx="2103120" cy="365760"/>
          </a:xfrm>
          <a:prstGeom prst="rect">
            <a:avLst/>
          </a:prstGeom>
          <a:noFill/>
        </p:spPr>
        <p:txBody>
          <a:bodyPr wrap="square">
            <a:spAutoFit/>
          </a:bodyPr>
          <a:lstStyle/>
          <a:p>
            <a:pPr algn="l">
              <a:spcBef>
                <a:spcPts val="0"/>
              </a:spcBef>
              <a:spcAft>
                <a:spcPts val="0"/>
              </a:spcAft>
              <a:defRPr sz="1100" b="0">
                <a:solidFill>
                  <a:srgbClr val="1E2761"/>
                </a:solidFill>
                <a:latin typeface="Arial"/>
              </a:defRPr>
            </a:pPr>
            <a:r>
              <a:t>David Gottfried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About us</a:t>
            </a:r>
          </a:p>
        </p:txBody>
      </p:sp>
      <p:sp>
        <p:nvSpPr>
          <p:cNvPr id="4" name="TextBox 3"/>
          <p:cNvSpPr txBox="1"/>
          <p:nvPr/>
        </p:nvSpPr>
        <p:spPr>
          <a:xfrm>
            <a:off x="22860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Market demand</a:t>
            </a:r>
          </a:p>
        </p:txBody>
      </p:sp>
      <p:sp>
        <p:nvSpPr>
          <p:cNvPr id="5" name="TextBox 4"/>
          <p:cNvSpPr txBox="1"/>
          <p:nvPr/>
        </p:nvSpPr>
        <p:spPr>
          <a:xfrm>
            <a:off x="41148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Solution &amp; impact</a:t>
            </a:r>
          </a:p>
        </p:txBody>
      </p:sp>
      <p:sp>
        <p:nvSpPr>
          <p:cNvPr id="6" name="TextBox 5"/>
          <p:cNvSpPr txBox="1"/>
          <p:nvPr/>
        </p:nvSpPr>
        <p:spPr>
          <a:xfrm>
            <a:off x="5943600" y="274320"/>
            <a:ext cx="1645920" cy="274320"/>
          </a:xfrm>
          <a:prstGeom prst="rect">
            <a:avLst/>
          </a:prstGeom>
          <a:noFill/>
        </p:spPr>
        <p:txBody>
          <a:bodyPr wrap="square">
            <a:spAutoFit/>
          </a:bodyPr>
          <a:lstStyle/>
          <a:p>
            <a:pPr algn="ctr">
              <a:spcBef>
                <a:spcPts val="0"/>
              </a:spcBef>
              <a:spcAft>
                <a:spcPts val="0"/>
              </a:spcAft>
              <a:defRPr sz="1000" b="0">
                <a:solidFill>
                  <a:srgbClr val="CADCFC"/>
                </a:solidFill>
                <a:latin typeface="Arial"/>
              </a:defRPr>
            </a:pPr>
            <a:r>
              <a:t>Team and advisors</a:t>
            </a:r>
          </a:p>
        </p:txBody>
      </p:sp>
      <p:sp>
        <p:nvSpPr>
          <p:cNvPr id="7" name="TextBox 6"/>
          <p:cNvSpPr txBox="1"/>
          <p:nvPr/>
        </p:nvSpPr>
        <p:spPr>
          <a:xfrm>
            <a:off x="7772400" y="274320"/>
            <a:ext cx="1645920" cy="274320"/>
          </a:xfrm>
          <a:prstGeom prst="rect">
            <a:avLst/>
          </a:prstGeom>
          <a:noFill/>
        </p:spPr>
        <p:txBody>
          <a:bodyPr wrap="square">
            <a:spAutoFit/>
          </a:bodyPr>
          <a:lstStyle/>
          <a:p>
            <a:pPr algn="ctr">
              <a:spcBef>
                <a:spcPts val="0"/>
              </a:spcBef>
              <a:spcAft>
                <a:spcPts val="0"/>
              </a:spcAft>
              <a:defRPr sz="1000" b="0">
                <a:solidFill>
                  <a:srgbClr val="02C39A"/>
                </a:solidFill>
                <a:latin typeface="Arial"/>
              </a:defRPr>
            </a:pPr>
            <a:r>
              <a:t>Contact us</a:t>
            </a:r>
          </a:p>
        </p:txBody>
      </p:sp>
      <p:sp>
        <p:nvSpPr>
          <p:cNvPr id="8" name="TextBox 7"/>
          <p:cNvSpPr txBox="1"/>
          <p:nvPr/>
        </p:nvSpPr>
        <p:spPr>
          <a:xfrm>
            <a:off x="457200" y="1828800"/>
            <a:ext cx="10972800" cy="1097280"/>
          </a:xfrm>
          <a:prstGeom prst="rect">
            <a:avLst/>
          </a:prstGeom>
          <a:noFill/>
        </p:spPr>
        <p:txBody>
          <a:bodyPr wrap="square">
            <a:spAutoFit/>
          </a:bodyPr>
          <a:lstStyle/>
          <a:p>
            <a:pPr algn="ctr">
              <a:spcBef>
                <a:spcPts val="0"/>
              </a:spcBef>
              <a:spcAft>
                <a:spcPts val="0"/>
              </a:spcAft>
              <a:defRPr sz="4800" b="1">
                <a:solidFill>
                  <a:srgbClr val="FFFFFF"/>
                </a:solidFill>
                <a:latin typeface="Arial"/>
              </a:defRPr>
            </a:pPr>
            <a:r>
              <a:t>Let's Build a</a:t>
            </a:r>
            <a:br/>
            <a:r>
              <a:t>Sustainable Future Together</a:t>
            </a:r>
          </a:p>
        </p:txBody>
      </p:sp>
      <p:sp>
        <p:nvSpPr>
          <p:cNvPr id="9" name="TextBox 8"/>
          <p:cNvSpPr txBox="1"/>
          <p:nvPr/>
        </p:nvSpPr>
        <p:spPr>
          <a:xfrm>
            <a:off x="1828800" y="3657600"/>
            <a:ext cx="8229600" cy="731520"/>
          </a:xfrm>
          <a:prstGeom prst="rect">
            <a:avLst/>
          </a:prstGeom>
          <a:noFill/>
        </p:spPr>
        <p:txBody>
          <a:bodyPr wrap="square">
            <a:spAutoFit/>
          </a:bodyPr>
          <a:lstStyle/>
          <a:p>
            <a:pPr algn="ctr">
              <a:spcBef>
                <a:spcPts val="0"/>
              </a:spcBef>
              <a:spcAft>
                <a:spcPts val="0"/>
              </a:spcAft>
              <a:defRPr sz="1600" b="0">
                <a:solidFill>
                  <a:srgbClr val="CADCFC"/>
                </a:solidFill>
                <a:latin typeface="Arial"/>
              </a:defRPr>
            </a:pPr>
            <a:r>
              <a:t>Contact us to learn how Carbon Free Technologies can transform</a:t>
            </a:r>
            <a:br/>
            <a:r>
              <a:t>your concrete production with circular economy solutions.</a:t>
            </a:r>
          </a:p>
        </p:txBody>
      </p:sp>
      <p:sp>
        <p:nvSpPr>
          <p:cNvPr id="10" name="Rounded Rectangle 9"/>
          <p:cNvSpPr/>
          <p:nvPr/>
        </p:nvSpPr>
        <p:spPr>
          <a:xfrm>
            <a:off x="5029200" y="4754880"/>
            <a:ext cx="2286000" cy="640080"/>
          </a:xfrm>
          <a:prstGeom prst="round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4892040"/>
            <a:ext cx="2286000" cy="457200"/>
          </a:xfrm>
          <a:prstGeom prst="rect">
            <a:avLst/>
          </a:prstGeom>
          <a:noFill/>
        </p:spPr>
        <p:txBody>
          <a:bodyPr wrap="square">
            <a:spAutoFit/>
          </a:bodyPr>
          <a:lstStyle/>
          <a:p>
            <a:pPr algn="ctr">
              <a:spcBef>
                <a:spcPts val="0"/>
              </a:spcBef>
              <a:spcAft>
                <a:spcPts val="0"/>
              </a:spcAft>
              <a:defRPr sz="1600" b="1">
                <a:solidFill>
                  <a:srgbClr val="FFFFFF"/>
                </a:solidFill>
                <a:latin typeface="Arial"/>
              </a:defRPr>
            </a:pPr>
            <a:r>
              <a:t>Contact Us</a:t>
            </a:r>
          </a:p>
        </p:txBody>
      </p:sp>
      <p:sp>
        <p:nvSpPr>
          <p:cNvPr id="12" name="TextBox 11"/>
          <p:cNvSpPr txBox="1"/>
          <p:nvPr/>
        </p:nvSpPr>
        <p:spPr>
          <a:xfrm>
            <a:off x="457200" y="6217920"/>
            <a:ext cx="4572000" cy="365760"/>
          </a:xfrm>
          <a:prstGeom prst="rect">
            <a:avLst/>
          </a:prstGeom>
          <a:noFill/>
        </p:spPr>
        <p:txBody>
          <a:bodyPr wrap="square">
            <a:spAutoFit/>
          </a:bodyPr>
          <a:lstStyle/>
          <a:p>
            <a:pPr algn="l">
              <a:spcBef>
                <a:spcPts val="0"/>
              </a:spcBef>
              <a:spcAft>
                <a:spcPts val="0"/>
              </a:spcAft>
              <a:defRPr sz="1400" b="1">
                <a:solidFill>
                  <a:srgbClr val="028090"/>
                </a:solidFill>
                <a:latin typeface="Arial"/>
              </a:defRPr>
            </a:pPr>
            <a:r>
              <a:t>CARBON FREE TECHNOLOGIES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